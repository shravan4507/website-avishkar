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2342"/>
    <a:srgbClr val="138808"/>
    <a:srgbClr val="FF6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B4E7-199A-4A1B-55E8-A5290E4A3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B39D0-F797-05EB-6384-6DD3A214C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69DF5-82C5-C89A-7EFA-403B9863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910C8-8865-C62F-AE16-E747709C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A501A-9BCD-FE54-4889-5E231C868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16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995D-6E40-9850-3E3D-F543E676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CBDF2-4541-DEC1-DB51-EA93420F0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F7844-8373-0593-22F0-A5FC180CE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8DAA3-4DCC-1240-064C-B3D45205E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06D5D-610E-5681-C701-DA4180C5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272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9D46E-92DD-654C-32CC-AA11C693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0D70E-6F89-F706-B96D-70869B024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96498-1D9E-321E-D2B2-17A9AB6A4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AD512-BD4D-2093-FAA7-E5B9F2326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35A55-EBD4-4A99-0BC7-41EAFDAF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45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2781-52FA-78BD-25DD-EE8F7239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850A2-E5A1-7966-7C7C-242F74CFE7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A38D8-5EC3-FB53-D2C2-D85EE2D88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BC6BC-5A96-BDA7-41AA-64CDF1F75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FA7CD-EB34-6F7C-3BB5-4074A8B53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2D83D-4071-028A-6730-FD2DEE82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97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78B9-60E3-CDED-DC5B-447C99FB2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B6E8C-2969-BB59-4E6D-D10CD3003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9D62D-DB6F-31E3-F596-49EE1A494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4B8A5-DD93-71AC-70AF-9FA00C4D10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A4A503-450F-7C57-EABA-5354CBBDC3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C5518-A0B6-D9B6-F531-CB3EB9D3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ABA7B0-FD5D-AB2C-CEAF-08AE73B4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11514-E800-F37C-DA84-B8575E756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32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D30D-D2BD-8B33-F19B-688054CB8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E7A2F-D20B-1002-424A-38366FB3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DBB0C5-BDFC-5B0E-5C80-812EA23C8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082AE-931A-21DA-9883-19898F08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57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A8A282-9998-CD85-3D32-1F62F0B1C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98177B-C24C-E68F-F10E-08AABD61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EACF2-B93E-AFBA-EE95-2E3110AA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65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0A18-51D9-3F99-0377-AEA94713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DFA2A-2C41-5F6F-1DC8-381807533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E2A1C-2A02-8C85-9312-705702C6D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36F4C-72C6-A97A-215B-DD2B1C575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E3F45-934E-015E-5EC8-D4C1779E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79E6D-C4C4-8999-3B17-F0DDC89DB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05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B9223-C4FA-63E1-E180-4FD2E583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C195CC-ECB6-4540-D299-92CBCED86B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B6893-F8B0-5F30-7E76-EED5A217B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CE0AF-05B5-D065-C7A1-A36E3396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058FB-FF86-B6E6-9F41-6BF59D1EB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FDBC1-ABEB-36D5-3A5D-5C8A286F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86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B8E3-B8C3-502E-DE84-65B33F975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618C4-E785-19DD-AAE8-BF3F1504E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A81E7-988C-9D45-F4DB-46CE29292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37E46-07BD-3E59-323C-FF044BEB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A83A1-03CD-95B6-3D61-A17D66AF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361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482E34-E9EE-1EB1-D6BA-1D6EF079E8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AFB4D-A838-B7FF-4B90-213BED2FA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F6334-5278-DA13-D5FA-BF312904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47B6D-EF42-349C-3906-8864CA5E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755FA-02F5-BD59-9768-7F56192BB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24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4A915A-968B-71E2-4BC8-9129F449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0AD43-861B-0218-47BC-C770E3917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96FF0-63FE-1F4C-46D1-555FEDE2C0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AC0BC-8692-4137-8D4A-9A9717A685D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91EAB-2411-78D8-55B9-4951EE0DE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4138B-3869-6D03-0863-C3F2192F7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6F7FD-6B8D-4BFE-9D47-D7172720C3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45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E8C80D0-665A-9270-FCFE-2B8D0EE49555}"/>
              </a:ext>
            </a:extLst>
          </p:cNvPr>
          <p:cNvGrpSpPr/>
          <p:nvPr/>
        </p:nvGrpSpPr>
        <p:grpSpPr>
          <a:xfrm>
            <a:off x="0" y="0"/>
            <a:ext cx="12192000" cy="435429"/>
            <a:chOff x="0" y="0"/>
            <a:chExt cx="9144000" cy="493776"/>
          </a:xfrm>
        </p:grpSpPr>
        <p:sp>
          <p:nvSpPr>
            <p:cNvPr id="4" name="Shape 0">
              <a:extLst>
                <a:ext uri="{FF2B5EF4-FFF2-40B4-BE49-F238E27FC236}">
                  <a16:creationId xmlns:a16="http://schemas.microsoft.com/office/drawing/2014/main" id="{A8973D96-AB8F-20B0-5F1B-FC9B50A09594}"/>
                </a:ext>
              </a:extLst>
            </p:cNvPr>
            <p:cNvSpPr/>
            <p:nvPr/>
          </p:nvSpPr>
          <p:spPr>
            <a:xfrm>
              <a:off x="0" y="0"/>
              <a:ext cx="9144000" cy="164592"/>
            </a:xfrm>
            <a:prstGeom prst="rect">
              <a:avLst/>
            </a:prstGeom>
            <a:solidFill>
              <a:srgbClr val="FF6B00"/>
            </a:solidFill>
            <a:ln w="12700">
              <a:solidFill>
                <a:srgbClr val="FF6B00"/>
              </a:solidFill>
              <a:prstDash val="solid"/>
            </a:ln>
          </p:spPr>
        </p:sp>
        <p:sp>
          <p:nvSpPr>
            <p:cNvPr id="5" name="Shape 1">
              <a:extLst>
                <a:ext uri="{FF2B5EF4-FFF2-40B4-BE49-F238E27FC236}">
                  <a16:creationId xmlns:a16="http://schemas.microsoft.com/office/drawing/2014/main" id="{BDB761B1-05D5-2FC3-77AA-1DE5FC10F1F9}"/>
                </a:ext>
              </a:extLst>
            </p:cNvPr>
            <p:cNvSpPr/>
            <p:nvPr/>
          </p:nvSpPr>
          <p:spPr>
            <a:xfrm>
              <a:off x="0" y="164592"/>
              <a:ext cx="9144000" cy="1645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E3EA"/>
              </a:solidFill>
              <a:prstDash val="solid"/>
            </a:ln>
          </p:spPr>
        </p:sp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6C39F241-B481-3191-7D35-3B0D3BCC9FF8}"/>
                </a:ext>
              </a:extLst>
            </p:cNvPr>
            <p:cNvSpPr/>
            <p:nvPr/>
          </p:nvSpPr>
          <p:spPr>
            <a:xfrm>
              <a:off x="0" y="329184"/>
              <a:ext cx="9144000" cy="164592"/>
            </a:xfrm>
            <a:prstGeom prst="rect">
              <a:avLst/>
            </a:prstGeom>
            <a:solidFill>
              <a:srgbClr val="138808"/>
            </a:solidFill>
            <a:ln w="12700">
              <a:solidFill>
                <a:srgbClr val="138808"/>
              </a:solidFill>
              <a:prstDash val="solid"/>
            </a:ln>
          </p:spPr>
        </p:sp>
      </p:grpSp>
      <p:sp>
        <p:nvSpPr>
          <p:cNvPr id="8" name="Shape 3">
            <a:extLst>
              <a:ext uri="{FF2B5EF4-FFF2-40B4-BE49-F238E27FC236}">
                <a16:creationId xmlns:a16="http://schemas.microsoft.com/office/drawing/2014/main" id="{B7F06333-BD26-FF28-0359-C1F1EDF54D79}"/>
              </a:ext>
            </a:extLst>
          </p:cNvPr>
          <p:cNvSpPr/>
          <p:nvPr/>
        </p:nvSpPr>
        <p:spPr>
          <a:xfrm>
            <a:off x="0" y="435429"/>
            <a:ext cx="12192000" cy="1584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10" name="Picture 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E151B332-8A13-3AD5-9D03-35B4C6489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227" y="0"/>
            <a:ext cx="3659545" cy="1657762"/>
          </a:xfrm>
          <a:prstGeom prst="rect">
            <a:avLst/>
          </a:prstGeom>
        </p:spPr>
      </p:pic>
      <p:pic>
        <p:nvPicPr>
          <p:cNvPr id="12" name="Picture 11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AB8400AE-E91E-0B20-4E90-AC8EEBFDB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599" y="1219797"/>
            <a:ext cx="3380058" cy="7236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A8BF1C-2E98-5F18-F767-D717DA969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303" y="2922596"/>
            <a:ext cx="2320834" cy="276606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F3754F28-6380-9501-072B-29FD012B7144}"/>
              </a:ext>
            </a:extLst>
          </p:cNvPr>
          <p:cNvGrpSpPr/>
          <p:nvPr/>
        </p:nvGrpSpPr>
        <p:grpSpPr>
          <a:xfrm>
            <a:off x="0" y="6434110"/>
            <a:ext cx="12192000" cy="435429"/>
            <a:chOff x="0" y="0"/>
            <a:chExt cx="9144000" cy="493776"/>
          </a:xfrm>
        </p:grpSpPr>
        <p:sp>
          <p:nvSpPr>
            <p:cNvPr id="18" name="Shape 0">
              <a:extLst>
                <a:ext uri="{FF2B5EF4-FFF2-40B4-BE49-F238E27FC236}">
                  <a16:creationId xmlns:a16="http://schemas.microsoft.com/office/drawing/2014/main" id="{C5AF5876-B4C9-F287-9316-DF1561BE3419}"/>
                </a:ext>
              </a:extLst>
            </p:cNvPr>
            <p:cNvSpPr/>
            <p:nvPr/>
          </p:nvSpPr>
          <p:spPr>
            <a:xfrm>
              <a:off x="0" y="0"/>
              <a:ext cx="9144000" cy="164592"/>
            </a:xfrm>
            <a:prstGeom prst="rect">
              <a:avLst/>
            </a:prstGeom>
            <a:solidFill>
              <a:srgbClr val="FF6B00"/>
            </a:solidFill>
            <a:ln w="12700">
              <a:solidFill>
                <a:srgbClr val="FF6B00"/>
              </a:solidFill>
              <a:prstDash val="solid"/>
            </a:ln>
          </p:spPr>
        </p:sp>
        <p:sp>
          <p:nvSpPr>
            <p:cNvPr id="19" name="Shape 1">
              <a:extLst>
                <a:ext uri="{FF2B5EF4-FFF2-40B4-BE49-F238E27FC236}">
                  <a16:creationId xmlns:a16="http://schemas.microsoft.com/office/drawing/2014/main" id="{B0A8494E-E707-5666-0236-920FF7D83D1C}"/>
                </a:ext>
              </a:extLst>
            </p:cNvPr>
            <p:cNvSpPr/>
            <p:nvPr/>
          </p:nvSpPr>
          <p:spPr>
            <a:xfrm>
              <a:off x="0" y="164592"/>
              <a:ext cx="9144000" cy="16459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DE3EA"/>
              </a:solidFill>
              <a:prstDash val="solid"/>
            </a:ln>
          </p:spPr>
        </p:sp>
        <p:sp>
          <p:nvSpPr>
            <p:cNvPr id="20" name="Shape 2">
              <a:extLst>
                <a:ext uri="{FF2B5EF4-FFF2-40B4-BE49-F238E27FC236}">
                  <a16:creationId xmlns:a16="http://schemas.microsoft.com/office/drawing/2014/main" id="{1565BB69-9D55-CFDE-80FC-730145CD5525}"/>
                </a:ext>
              </a:extLst>
            </p:cNvPr>
            <p:cNvSpPr/>
            <p:nvPr/>
          </p:nvSpPr>
          <p:spPr>
            <a:xfrm>
              <a:off x="0" y="329184"/>
              <a:ext cx="9144000" cy="164592"/>
            </a:xfrm>
            <a:prstGeom prst="rect">
              <a:avLst/>
            </a:prstGeom>
            <a:solidFill>
              <a:srgbClr val="138808"/>
            </a:solidFill>
            <a:ln w="12700">
              <a:solidFill>
                <a:srgbClr val="138808"/>
              </a:solidFill>
              <a:prstDash val="solid"/>
            </a:ln>
          </p:spPr>
        </p:sp>
      </p:grp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CDB1ADA-FBDF-A72E-E26C-F434E0DF5269}"/>
              </a:ext>
            </a:extLst>
          </p:cNvPr>
          <p:cNvSpPr/>
          <p:nvPr/>
        </p:nvSpPr>
        <p:spPr>
          <a:xfrm>
            <a:off x="571499" y="2800676"/>
            <a:ext cx="8128363" cy="42672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Problem Statement ID: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5D8D218-448B-F4ED-EAF1-1BA79CE0B995}"/>
              </a:ext>
            </a:extLst>
          </p:cNvPr>
          <p:cNvSpPr/>
          <p:nvPr/>
        </p:nvSpPr>
        <p:spPr>
          <a:xfrm>
            <a:off x="571500" y="3324641"/>
            <a:ext cx="8128362" cy="426720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Problem Statement Title:		</a:t>
            </a:r>
            <a:r>
              <a:rPr lang="en-IN" i="1" dirty="0">
                <a:solidFill>
                  <a:schemeClr val="bg1">
                    <a:lumMod val="50000"/>
                  </a:schemeClr>
                </a:solidFill>
              </a:rPr>
              <a:t>[Enter Title]</a:t>
            </a:r>
            <a:endParaRPr lang="en-IN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13BDF6A-166A-6152-9678-E53922739159}"/>
              </a:ext>
            </a:extLst>
          </p:cNvPr>
          <p:cNvSpPr/>
          <p:nvPr/>
        </p:nvSpPr>
        <p:spPr>
          <a:xfrm>
            <a:off x="571499" y="3874333"/>
            <a:ext cx="8128361" cy="42672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Theme:				</a:t>
            </a:r>
            <a:r>
              <a:rPr lang="en-IN" i="1" dirty="0">
                <a:solidFill>
                  <a:schemeClr val="bg1">
                    <a:lumMod val="50000"/>
                  </a:schemeClr>
                </a:solidFill>
              </a:rPr>
              <a:t>[Enter Theme]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128A0EB-D3E9-8FB0-678E-F8FB3D194C7B}"/>
              </a:ext>
            </a:extLst>
          </p:cNvPr>
          <p:cNvSpPr/>
          <p:nvPr/>
        </p:nvSpPr>
        <p:spPr>
          <a:xfrm>
            <a:off x="571500" y="4398298"/>
            <a:ext cx="8128360" cy="426720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PS Category:				</a:t>
            </a:r>
            <a:r>
              <a:rPr lang="en-IN" i="1" dirty="0">
                <a:solidFill>
                  <a:schemeClr val="bg1">
                    <a:lumMod val="50000"/>
                  </a:schemeClr>
                </a:solidFill>
              </a:rPr>
              <a:t>Software/Hardware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A68F68E-2824-F3BC-7C40-3AA09506E6A9}"/>
              </a:ext>
            </a:extLst>
          </p:cNvPr>
          <p:cNvSpPr/>
          <p:nvPr/>
        </p:nvSpPr>
        <p:spPr>
          <a:xfrm>
            <a:off x="571500" y="4908712"/>
            <a:ext cx="8128360" cy="42672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Team ID:				</a:t>
            </a:r>
            <a:r>
              <a:rPr lang="en-IN" i="1" dirty="0">
                <a:solidFill>
                  <a:schemeClr val="bg1">
                    <a:lumMod val="50000"/>
                  </a:schemeClr>
                </a:solidFill>
              </a:rPr>
              <a:t>[Enter Team ID]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E915BCBC-587A-3C8E-9FF3-0C180FAC8FA5}"/>
              </a:ext>
            </a:extLst>
          </p:cNvPr>
          <p:cNvSpPr/>
          <p:nvPr/>
        </p:nvSpPr>
        <p:spPr>
          <a:xfrm>
            <a:off x="571500" y="5432677"/>
            <a:ext cx="8128360" cy="426720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Team Name:				</a:t>
            </a:r>
            <a:r>
              <a:rPr lang="en-IN" i="1" dirty="0">
                <a:solidFill>
                  <a:schemeClr val="bg1">
                    <a:lumMod val="50000"/>
                  </a:schemeClr>
                </a:solidFill>
              </a:rPr>
              <a:t>[Registered on portal]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F8613B7-17B9-F208-03C8-E481EC58A0DA}"/>
              </a:ext>
            </a:extLst>
          </p:cNvPr>
          <p:cNvSpPr/>
          <p:nvPr/>
        </p:nvSpPr>
        <p:spPr>
          <a:xfrm>
            <a:off x="571500" y="2799097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C0037F1-86CC-E4EB-CE0B-43D0D85FFA00}"/>
              </a:ext>
            </a:extLst>
          </p:cNvPr>
          <p:cNvSpPr/>
          <p:nvPr/>
        </p:nvSpPr>
        <p:spPr>
          <a:xfrm>
            <a:off x="571500" y="3331008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8E57326-6645-667B-F6B2-FCE7D45A143C}"/>
              </a:ext>
            </a:extLst>
          </p:cNvPr>
          <p:cNvSpPr/>
          <p:nvPr/>
        </p:nvSpPr>
        <p:spPr>
          <a:xfrm>
            <a:off x="571500" y="3874333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A418B63-BB4E-5E3E-34B8-3B8505A3835A}"/>
              </a:ext>
            </a:extLst>
          </p:cNvPr>
          <p:cNvSpPr/>
          <p:nvPr/>
        </p:nvSpPr>
        <p:spPr>
          <a:xfrm>
            <a:off x="571500" y="4397558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5039FDF-6F37-F462-6EED-F502475F299F}"/>
              </a:ext>
            </a:extLst>
          </p:cNvPr>
          <p:cNvSpPr/>
          <p:nvPr/>
        </p:nvSpPr>
        <p:spPr>
          <a:xfrm>
            <a:off x="571500" y="4906409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4D63A54-B265-FF31-2DB4-C651256358A0}"/>
              </a:ext>
            </a:extLst>
          </p:cNvPr>
          <p:cNvSpPr/>
          <p:nvPr/>
        </p:nvSpPr>
        <p:spPr>
          <a:xfrm>
            <a:off x="571500" y="5432677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2641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86FB44-7F4C-4079-EA54-57F5050E45B0}"/>
              </a:ext>
            </a:extLst>
          </p:cNvPr>
          <p:cNvSpPr/>
          <p:nvPr/>
        </p:nvSpPr>
        <p:spPr>
          <a:xfrm>
            <a:off x="201168" y="0"/>
            <a:ext cx="11789664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398330-BBD8-13F6-168D-FA00B52243A4}"/>
              </a:ext>
            </a:extLst>
          </p:cNvPr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D4F56A7-66F4-765E-535C-974E8428EFB8}"/>
              </a:ext>
            </a:extLst>
          </p:cNvPr>
          <p:cNvSpPr/>
          <p:nvPr/>
        </p:nvSpPr>
        <p:spPr>
          <a:xfrm>
            <a:off x="11990832" y="0"/>
            <a:ext cx="201168" cy="91440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325DD77-1CB8-131E-C491-34FF6E8F0F9C}"/>
              </a:ext>
            </a:extLst>
          </p:cNvPr>
          <p:cNvSpPr/>
          <p:nvPr/>
        </p:nvSpPr>
        <p:spPr>
          <a:xfrm>
            <a:off x="2028226" y="1097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26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405837A-78F8-BB85-2F7E-45C6128F060A}"/>
              </a:ext>
            </a:extLst>
          </p:cNvPr>
          <p:cNvSpPr/>
          <p:nvPr/>
        </p:nvSpPr>
        <p:spPr>
          <a:xfrm>
            <a:off x="492034" y="89589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A6B"/>
                </a:solidFill>
              </a:rPr>
              <a:t>Your Team Name</a:t>
            </a:r>
            <a:endParaRPr lang="en-US" sz="1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68D5A19-1D92-428D-421E-A5339213F0A4}"/>
              </a:ext>
            </a:extLst>
          </p:cNvPr>
          <p:cNvSpPr/>
          <p:nvPr/>
        </p:nvSpPr>
        <p:spPr>
          <a:xfrm>
            <a:off x="1" y="6487668"/>
            <a:ext cx="12192000" cy="3703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EBC65D8-58C2-4B05-CD04-BE4B25E1E525}"/>
              </a:ext>
            </a:extLst>
          </p:cNvPr>
          <p:cNvSpPr/>
          <p:nvPr/>
        </p:nvSpPr>
        <p:spPr>
          <a:xfrm>
            <a:off x="11762231" y="6505956"/>
            <a:ext cx="4572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8BEFEE04-C931-B673-77AE-EA149AC4668A}"/>
              </a:ext>
            </a:extLst>
          </p:cNvPr>
          <p:cNvSpPr/>
          <p:nvPr/>
        </p:nvSpPr>
        <p:spPr>
          <a:xfrm>
            <a:off x="1865811" y="2791968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C2E41C30-B110-8AE4-7CF6-4130520522C1}"/>
              </a:ext>
            </a:extLst>
          </p:cNvPr>
          <p:cNvSpPr/>
          <p:nvPr/>
        </p:nvSpPr>
        <p:spPr>
          <a:xfrm>
            <a:off x="1865811" y="2791968"/>
            <a:ext cx="2743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A70DCDA9-820C-C326-04A5-369D4F27C6D7}"/>
              </a:ext>
            </a:extLst>
          </p:cNvPr>
          <p:cNvSpPr/>
          <p:nvPr/>
        </p:nvSpPr>
        <p:spPr>
          <a:xfrm>
            <a:off x="1865811" y="288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456FE29F-5135-EDA4-4829-6F636EF5AFB4}"/>
              </a:ext>
            </a:extLst>
          </p:cNvPr>
          <p:cNvSpPr/>
          <p:nvPr/>
        </p:nvSpPr>
        <p:spPr>
          <a:xfrm>
            <a:off x="1975539" y="340461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Detailed Explanation</a:t>
            </a:r>
            <a:endParaRPr lang="en-US" sz="130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3AAB9A04-2AED-6286-60AF-C44FE8BF7FC9}"/>
              </a:ext>
            </a:extLst>
          </p:cNvPr>
          <p:cNvSpPr/>
          <p:nvPr/>
        </p:nvSpPr>
        <p:spPr>
          <a:xfrm>
            <a:off x="1975539" y="3898392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</a:rPr>
              <a:t>Write a detailed explanation of the proposed solution here. Describe what it does, how it works, and the key features.</a:t>
            </a:r>
            <a:endParaRPr lang="en-US" sz="1100" dirty="0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3DFA0337-96EB-CB74-39A5-35C346848DD6}"/>
              </a:ext>
            </a:extLst>
          </p:cNvPr>
          <p:cNvSpPr/>
          <p:nvPr/>
        </p:nvSpPr>
        <p:spPr>
          <a:xfrm>
            <a:off x="4746171" y="2791968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E6168D5C-45BE-45B1-9550-0A1EBAF97C74}"/>
              </a:ext>
            </a:extLst>
          </p:cNvPr>
          <p:cNvSpPr/>
          <p:nvPr/>
        </p:nvSpPr>
        <p:spPr>
          <a:xfrm>
            <a:off x="4746171" y="2791968"/>
            <a:ext cx="2743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A60EB2EF-00E7-E0A9-4E74-3486E41B395F}"/>
              </a:ext>
            </a:extLst>
          </p:cNvPr>
          <p:cNvSpPr/>
          <p:nvPr/>
        </p:nvSpPr>
        <p:spPr>
          <a:xfrm>
            <a:off x="4746171" y="288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E401F0C3-EB5C-B125-7F6F-FC06A27259D0}"/>
              </a:ext>
            </a:extLst>
          </p:cNvPr>
          <p:cNvSpPr/>
          <p:nvPr/>
        </p:nvSpPr>
        <p:spPr>
          <a:xfrm>
            <a:off x="4855899" y="340461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How It Addresses the Problem</a:t>
            </a:r>
            <a:endParaRPr lang="en-US" sz="13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01FD5613-42CF-307A-59FF-2693B7590566}"/>
              </a:ext>
            </a:extLst>
          </p:cNvPr>
          <p:cNvSpPr/>
          <p:nvPr/>
        </p:nvSpPr>
        <p:spPr>
          <a:xfrm>
            <a:off x="4855899" y="3898392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</a:rPr>
              <a:t>Explain specifically how your solution tackles the stated problem statement and the gap it fills.</a:t>
            </a:r>
            <a:endParaRPr lang="en-US" sz="11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0C3747A6-A1F5-7892-5443-9681847DA9B6}"/>
              </a:ext>
            </a:extLst>
          </p:cNvPr>
          <p:cNvSpPr/>
          <p:nvPr/>
        </p:nvSpPr>
        <p:spPr>
          <a:xfrm>
            <a:off x="7626531" y="2791968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8A554A2B-23C3-F1FB-12B7-A77698AE47B9}"/>
              </a:ext>
            </a:extLst>
          </p:cNvPr>
          <p:cNvSpPr/>
          <p:nvPr/>
        </p:nvSpPr>
        <p:spPr>
          <a:xfrm>
            <a:off x="7626531" y="2791968"/>
            <a:ext cx="274320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AB5AEA37-7583-FD87-1E37-16403DA1BA08}"/>
              </a:ext>
            </a:extLst>
          </p:cNvPr>
          <p:cNvSpPr/>
          <p:nvPr/>
        </p:nvSpPr>
        <p:spPr>
          <a:xfrm>
            <a:off x="7626531" y="28834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796BB2B4-4EB7-BABF-E9A6-E2A15E487E8B}"/>
              </a:ext>
            </a:extLst>
          </p:cNvPr>
          <p:cNvSpPr/>
          <p:nvPr/>
        </p:nvSpPr>
        <p:spPr>
          <a:xfrm>
            <a:off x="7736259" y="3404616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Innovation &amp; Uniqueness</a:t>
            </a:r>
            <a:endParaRPr lang="en-US" sz="1300" dirty="0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70B5E8ED-EF3C-A900-CA44-E1ADBBFBA28A}"/>
              </a:ext>
            </a:extLst>
          </p:cNvPr>
          <p:cNvSpPr/>
          <p:nvPr/>
        </p:nvSpPr>
        <p:spPr>
          <a:xfrm>
            <a:off x="7736259" y="3898392"/>
            <a:ext cx="2523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</a:rPr>
              <a:t>Highlight what makes this solution novel. What differentiates it from existing approaches?</a:t>
            </a:r>
            <a:endParaRPr lang="en-US" sz="11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A17CC5-E8E6-1A95-AB67-398A48827493}"/>
              </a:ext>
            </a:extLst>
          </p:cNvPr>
          <p:cNvSpPr/>
          <p:nvPr/>
        </p:nvSpPr>
        <p:spPr>
          <a:xfrm>
            <a:off x="201167" y="1347842"/>
            <a:ext cx="11789664" cy="454751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2" name="Picture 41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F38B93B2-2DE8-52B8-10FE-DE606B083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179" y="202257"/>
            <a:ext cx="2959104" cy="633521"/>
          </a:xfrm>
          <a:prstGeom prst="rect">
            <a:avLst/>
          </a:prstGeom>
        </p:spPr>
      </p:pic>
      <p:sp>
        <p:nvSpPr>
          <p:cNvPr id="25" name="Text 11">
            <a:extLst>
              <a:ext uri="{FF2B5EF4-FFF2-40B4-BE49-F238E27FC236}">
                <a16:creationId xmlns:a16="http://schemas.microsoft.com/office/drawing/2014/main" id="{8DCBB7C9-3E44-5F5F-B4AF-BBAF8EC818A7}"/>
              </a:ext>
            </a:extLst>
          </p:cNvPr>
          <p:cNvSpPr/>
          <p:nvPr/>
        </p:nvSpPr>
        <p:spPr>
          <a:xfrm>
            <a:off x="428614" y="133731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❖  Proposed Solution  (Describe your Idea / Solution / Prototype)</a:t>
            </a:r>
            <a:endParaRPr lang="en-US" sz="1500" dirty="0"/>
          </a:p>
        </p:txBody>
      </p:sp>
      <p:pic>
        <p:nvPicPr>
          <p:cNvPr id="59" name="Picture 5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D259833-BEB6-B9EE-7810-0ADA36644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" y="6566589"/>
            <a:ext cx="1611086" cy="249066"/>
          </a:xfrm>
          <a:prstGeom prst="rect">
            <a:avLst/>
          </a:prstGeom>
        </p:spPr>
      </p:pic>
      <p:sp>
        <p:nvSpPr>
          <p:cNvPr id="61" name="Text 3">
            <a:extLst>
              <a:ext uri="{FF2B5EF4-FFF2-40B4-BE49-F238E27FC236}">
                <a16:creationId xmlns:a16="http://schemas.microsoft.com/office/drawing/2014/main" id="{0B2E74BB-52EB-1CB5-3192-DB41DB0EC53D}"/>
              </a:ext>
            </a:extLst>
          </p:cNvPr>
          <p:cNvSpPr/>
          <p:nvPr/>
        </p:nvSpPr>
        <p:spPr>
          <a:xfrm>
            <a:off x="347472" y="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35411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86FB44-7F4C-4079-EA54-57F5050E45B0}"/>
              </a:ext>
            </a:extLst>
          </p:cNvPr>
          <p:cNvSpPr/>
          <p:nvPr/>
        </p:nvSpPr>
        <p:spPr>
          <a:xfrm>
            <a:off x="201168" y="0"/>
            <a:ext cx="11789664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398330-BBD8-13F6-168D-FA00B52243A4}"/>
              </a:ext>
            </a:extLst>
          </p:cNvPr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D4F56A7-66F4-765E-535C-974E8428EFB8}"/>
              </a:ext>
            </a:extLst>
          </p:cNvPr>
          <p:cNvSpPr/>
          <p:nvPr/>
        </p:nvSpPr>
        <p:spPr>
          <a:xfrm>
            <a:off x="11990832" y="0"/>
            <a:ext cx="201168" cy="91440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325DD77-1CB8-131E-C491-34FF6E8F0F9C}"/>
              </a:ext>
            </a:extLst>
          </p:cNvPr>
          <p:cNvSpPr/>
          <p:nvPr/>
        </p:nvSpPr>
        <p:spPr>
          <a:xfrm>
            <a:off x="2028226" y="1097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26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405837A-78F8-BB85-2F7E-45C6128F060A}"/>
              </a:ext>
            </a:extLst>
          </p:cNvPr>
          <p:cNvSpPr/>
          <p:nvPr/>
        </p:nvSpPr>
        <p:spPr>
          <a:xfrm>
            <a:off x="492034" y="89589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A6B"/>
                </a:solidFill>
              </a:rPr>
              <a:t>Your Team Name</a:t>
            </a:r>
            <a:endParaRPr lang="en-US" sz="1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68D5A19-1D92-428D-421E-A5339213F0A4}"/>
              </a:ext>
            </a:extLst>
          </p:cNvPr>
          <p:cNvSpPr/>
          <p:nvPr/>
        </p:nvSpPr>
        <p:spPr>
          <a:xfrm>
            <a:off x="1" y="6487668"/>
            <a:ext cx="12192000" cy="3703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EBC65D8-58C2-4B05-CD04-BE4B25E1E525}"/>
              </a:ext>
            </a:extLst>
          </p:cNvPr>
          <p:cNvSpPr/>
          <p:nvPr/>
        </p:nvSpPr>
        <p:spPr>
          <a:xfrm>
            <a:off x="11762231" y="6505956"/>
            <a:ext cx="4572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A17CC5-E8E6-1A95-AB67-398A48827493}"/>
              </a:ext>
            </a:extLst>
          </p:cNvPr>
          <p:cNvSpPr/>
          <p:nvPr/>
        </p:nvSpPr>
        <p:spPr>
          <a:xfrm>
            <a:off x="1420367" y="2043385"/>
            <a:ext cx="2994879" cy="454751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2" name="Picture 41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F38B93B2-2DE8-52B8-10FE-DE606B083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179" y="202257"/>
            <a:ext cx="2959104" cy="633521"/>
          </a:xfrm>
          <a:prstGeom prst="rect">
            <a:avLst/>
          </a:prstGeom>
        </p:spPr>
      </p:pic>
      <p:sp>
        <p:nvSpPr>
          <p:cNvPr id="25" name="Text 11">
            <a:extLst>
              <a:ext uri="{FF2B5EF4-FFF2-40B4-BE49-F238E27FC236}">
                <a16:creationId xmlns:a16="http://schemas.microsoft.com/office/drawing/2014/main" id="{8DCBB7C9-3E44-5F5F-B4AF-BBAF8EC818A7}"/>
              </a:ext>
            </a:extLst>
          </p:cNvPr>
          <p:cNvSpPr/>
          <p:nvPr/>
        </p:nvSpPr>
        <p:spPr>
          <a:xfrm>
            <a:off x="1647814" y="2032853"/>
            <a:ext cx="28545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⚙️  Technologies to be Used</a:t>
            </a:r>
            <a:endParaRPr lang="en-US" sz="1600" dirty="0"/>
          </a:p>
        </p:txBody>
      </p:sp>
      <p:pic>
        <p:nvPicPr>
          <p:cNvPr id="59" name="Picture 5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D259833-BEB6-B9EE-7810-0ADA36644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" y="6566589"/>
            <a:ext cx="1611086" cy="249066"/>
          </a:xfrm>
          <a:prstGeom prst="rect">
            <a:avLst/>
          </a:prstGeom>
        </p:spPr>
      </p:pic>
      <p:sp>
        <p:nvSpPr>
          <p:cNvPr id="61" name="Text 3">
            <a:extLst>
              <a:ext uri="{FF2B5EF4-FFF2-40B4-BE49-F238E27FC236}">
                <a16:creationId xmlns:a16="http://schemas.microsoft.com/office/drawing/2014/main" id="{0B2E74BB-52EB-1CB5-3192-DB41DB0EC53D}"/>
              </a:ext>
            </a:extLst>
          </p:cNvPr>
          <p:cNvSpPr/>
          <p:nvPr/>
        </p:nvSpPr>
        <p:spPr>
          <a:xfrm>
            <a:off x="347472" y="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A48DAE2-FABD-69C9-0D29-6C8992EF1A11}"/>
              </a:ext>
            </a:extLst>
          </p:cNvPr>
          <p:cNvSpPr/>
          <p:nvPr/>
        </p:nvSpPr>
        <p:spPr>
          <a:xfrm>
            <a:off x="7235473" y="2064149"/>
            <a:ext cx="2994879" cy="454751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9E3210E5-141B-9318-91D3-43AC5CA7DC8D}"/>
              </a:ext>
            </a:extLst>
          </p:cNvPr>
          <p:cNvSpPr/>
          <p:nvPr/>
        </p:nvSpPr>
        <p:spPr>
          <a:xfrm>
            <a:off x="7462920" y="2053617"/>
            <a:ext cx="28545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🔄  Methodology &amp; Process</a:t>
            </a:r>
            <a:endParaRPr lang="en-US" sz="1600" dirty="0"/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E321EF3E-2A81-DB04-4D55-8381BD772190}"/>
              </a:ext>
            </a:extLst>
          </p:cNvPr>
          <p:cNvSpPr/>
          <p:nvPr/>
        </p:nvSpPr>
        <p:spPr>
          <a:xfrm>
            <a:off x="1087548" y="2756617"/>
            <a:ext cx="4023360" cy="393192"/>
          </a:xfrm>
          <a:prstGeom prst="rect">
            <a:avLst/>
          </a:prstGeom>
          <a:solidFill>
            <a:srgbClr val="E3F0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08569E3D-A1C3-84D5-8E3E-5714D66BD0B9}"/>
              </a:ext>
            </a:extLst>
          </p:cNvPr>
          <p:cNvSpPr/>
          <p:nvPr/>
        </p:nvSpPr>
        <p:spPr>
          <a:xfrm>
            <a:off x="1087548" y="2756617"/>
            <a:ext cx="54864" cy="3931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6681DCB9-5AB4-89FF-6194-22AA12A01554}"/>
              </a:ext>
            </a:extLst>
          </p:cNvPr>
          <p:cNvSpPr/>
          <p:nvPr/>
        </p:nvSpPr>
        <p:spPr>
          <a:xfrm>
            <a:off x="1242996" y="2756617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Programming Languages</a:t>
            </a:r>
            <a:endParaRPr lang="en-US" sz="1100" dirty="0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385D9C10-00B5-862B-1C56-97FBE7FD71A0}"/>
              </a:ext>
            </a:extLst>
          </p:cNvPr>
          <p:cNvSpPr/>
          <p:nvPr/>
        </p:nvSpPr>
        <p:spPr>
          <a:xfrm>
            <a:off x="3190668" y="2756617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080"/>
                </a:solidFill>
              </a:rPr>
              <a:t>[e.g. Python, JavaScript]</a:t>
            </a:r>
            <a:endParaRPr lang="en-US" sz="1100" dirty="0"/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BFB48E88-270A-B817-A665-8B007B65C8E6}"/>
              </a:ext>
            </a:extLst>
          </p:cNvPr>
          <p:cNvSpPr/>
          <p:nvPr/>
        </p:nvSpPr>
        <p:spPr>
          <a:xfrm>
            <a:off x="1087548" y="3195529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B2A5A476-C6BD-D142-5B97-14BE81365058}"/>
              </a:ext>
            </a:extLst>
          </p:cNvPr>
          <p:cNvSpPr/>
          <p:nvPr/>
        </p:nvSpPr>
        <p:spPr>
          <a:xfrm>
            <a:off x="1087548" y="3195529"/>
            <a:ext cx="54864" cy="3931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6929E9D3-718C-CF1A-AA92-FF600B2C6F07}"/>
              </a:ext>
            </a:extLst>
          </p:cNvPr>
          <p:cNvSpPr/>
          <p:nvPr/>
        </p:nvSpPr>
        <p:spPr>
          <a:xfrm>
            <a:off x="1242996" y="3195529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Frameworks / Libraries</a:t>
            </a:r>
            <a:endParaRPr lang="en-US" sz="1100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4E3E20C0-D002-8086-F4CA-C1759463C7CE}"/>
              </a:ext>
            </a:extLst>
          </p:cNvPr>
          <p:cNvSpPr/>
          <p:nvPr/>
        </p:nvSpPr>
        <p:spPr>
          <a:xfrm>
            <a:off x="3190668" y="3195529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080"/>
                </a:solidFill>
              </a:rPr>
              <a:t>[e.g. React, TensorFlow]</a:t>
            </a:r>
            <a:endParaRPr lang="en-US" sz="1100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97C400CD-2825-E0CD-5189-7F5369F7A480}"/>
              </a:ext>
            </a:extLst>
          </p:cNvPr>
          <p:cNvSpPr/>
          <p:nvPr/>
        </p:nvSpPr>
        <p:spPr>
          <a:xfrm>
            <a:off x="1087548" y="3634441"/>
            <a:ext cx="4023360" cy="393192"/>
          </a:xfrm>
          <a:prstGeom prst="rect">
            <a:avLst/>
          </a:prstGeom>
          <a:solidFill>
            <a:srgbClr val="E3F0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Shape 21">
            <a:extLst>
              <a:ext uri="{FF2B5EF4-FFF2-40B4-BE49-F238E27FC236}">
                <a16:creationId xmlns:a16="http://schemas.microsoft.com/office/drawing/2014/main" id="{E7D19B5B-11C2-F985-D3DB-AE79BAA1CE5F}"/>
              </a:ext>
            </a:extLst>
          </p:cNvPr>
          <p:cNvSpPr/>
          <p:nvPr/>
        </p:nvSpPr>
        <p:spPr>
          <a:xfrm>
            <a:off x="1087548" y="3634441"/>
            <a:ext cx="54864" cy="3931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C9E4DCC8-FB3E-46A3-EF0D-77F21F5EAC0C}"/>
              </a:ext>
            </a:extLst>
          </p:cNvPr>
          <p:cNvSpPr/>
          <p:nvPr/>
        </p:nvSpPr>
        <p:spPr>
          <a:xfrm>
            <a:off x="1242996" y="3634441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Database</a:t>
            </a:r>
            <a:endParaRPr lang="en-US" sz="11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FDEC6D3A-9049-EB25-12A5-7D182B6A96BD}"/>
              </a:ext>
            </a:extLst>
          </p:cNvPr>
          <p:cNvSpPr/>
          <p:nvPr/>
        </p:nvSpPr>
        <p:spPr>
          <a:xfrm>
            <a:off x="3190668" y="3634441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080"/>
                </a:solidFill>
              </a:rPr>
              <a:t>[e.g. MongoDB, Firebase]</a:t>
            </a:r>
            <a:endParaRPr lang="en-US" sz="1100" dirty="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A24BA85E-D29A-0B90-7255-E3F094374B9D}"/>
              </a:ext>
            </a:extLst>
          </p:cNvPr>
          <p:cNvSpPr/>
          <p:nvPr/>
        </p:nvSpPr>
        <p:spPr>
          <a:xfrm>
            <a:off x="1087548" y="4073353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1" name="Shape 25">
            <a:extLst>
              <a:ext uri="{FF2B5EF4-FFF2-40B4-BE49-F238E27FC236}">
                <a16:creationId xmlns:a16="http://schemas.microsoft.com/office/drawing/2014/main" id="{156FB84A-172B-9B89-BAFE-06CF00A22D88}"/>
              </a:ext>
            </a:extLst>
          </p:cNvPr>
          <p:cNvSpPr/>
          <p:nvPr/>
        </p:nvSpPr>
        <p:spPr>
          <a:xfrm>
            <a:off x="1087548" y="4073353"/>
            <a:ext cx="54864" cy="3931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4D90EB25-5BFE-D7A1-BC5F-FBBB321B50EF}"/>
              </a:ext>
            </a:extLst>
          </p:cNvPr>
          <p:cNvSpPr/>
          <p:nvPr/>
        </p:nvSpPr>
        <p:spPr>
          <a:xfrm>
            <a:off x="1242996" y="4073353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Cloud / Hosting</a:t>
            </a:r>
            <a:endParaRPr lang="en-US" sz="11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5F588321-B41D-299E-84D9-C6B8FB83DA14}"/>
              </a:ext>
            </a:extLst>
          </p:cNvPr>
          <p:cNvSpPr/>
          <p:nvPr/>
        </p:nvSpPr>
        <p:spPr>
          <a:xfrm>
            <a:off x="3190668" y="4073353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080"/>
                </a:solidFill>
              </a:rPr>
              <a:t>[e.g. AWS, Azure, GCP]</a:t>
            </a:r>
            <a:endParaRPr lang="en-US" sz="1100" dirty="0"/>
          </a:p>
        </p:txBody>
      </p:sp>
      <p:sp>
        <p:nvSpPr>
          <p:cNvPr id="46" name="Shape 28">
            <a:extLst>
              <a:ext uri="{FF2B5EF4-FFF2-40B4-BE49-F238E27FC236}">
                <a16:creationId xmlns:a16="http://schemas.microsoft.com/office/drawing/2014/main" id="{307F65D1-008C-5182-FD08-2786DA4EAD15}"/>
              </a:ext>
            </a:extLst>
          </p:cNvPr>
          <p:cNvSpPr/>
          <p:nvPr/>
        </p:nvSpPr>
        <p:spPr>
          <a:xfrm>
            <a:off x="1087548" y="4512265"/>
            <a:ext cx="4023360" cy="393192"/>
          </a:xfrm>
          <a:prstGeom prst="rect">
            <a:avLst/>
          </a:prstGeom>
          <a:solidFill>
            <a:srgbClr val="E3F0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7" name="Shape 29">
            <a:extLst>
              <a:ext uri="{FF2B5EF4-FFF2-40B4-BE49-F238E27FC236}">
                <a16:creationId xmlns:a16="http://schemas.microsoft.com/office/drawing/2014/main" id="{EE2A571A-0CA2-40CD-DA6A-42DCE9A3B696}"/>
              </a:ext>
            </a:extLst>
          </p:cNvPr>
          <p:cNvSpPr/>
          <p:nvPr/>
        </p:nvSpPr>
        <p:spPr>
          <a:xfrm>
            <a:off x="1087548" y="4512265"/>
            <a:ext cx="54864" cy="3931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8" name="Text 30">
            <a:extLst>
              <a:ext uri="{FF2B5EF4-FFF2-40B4-BE49-F238E27FC236}">
                <a16:creationId xmlns:a16="http://schemas.microsoft.com/office/drawing/2014/main" id="{82A84D53-10AE-44C4-9183-FDDB0DBB437A}"/>
              </a:ext>
            </a:extLst>
          </p:cNvPr>
          <p:cNvSpPr/>
          <p:nvPr/>
        </p:nvSpPr>
        <p:spPr>
          <a:xfrm>
            <a:off x="1242996" y="4512265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</a:rPr>
              <a:t>Hardware (if any)</a:t>
            </a:r>
            <a:endParaRPr lang="en-US" sz="1100" dirty="0"/>
          </a:p>
        </p:txBody>
      </p:sp>
      <p:sp>
        <p:nvSpPr>
          <p:cNvPr id="49" name="Text 31">
            <a:extLst>
              <a:ext uri="{FF2B5EF4-FFF2-40B4-BE49-F238E27FC236}">
                <a16:creationId xmlns:a16="http://schemas.microsoft.com/office/drawing/2014/main" id="{EB3CC6E6-7812-8DBF-BD7A-042D791ABFB4}"/>
              </a:ext>
            </a:extLst>
          </p:cNvPr>
          <p:cNvSpPr/>
          <p:nvPr/>
        </p:nvSpPr>
        <p:spPr>
          <a:xfrm>
            <a:off x="3190668" y="4512265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080"/>
                </a:solidFill>
              </a:rPr>
              <a:t>[e.g. Raspberry Pi, Arduino]</a:t>
            </a:r>
            <a:endParaRPr lang="en-US" sz="1100" dirty="0"/>
          </a:p>
        </p:txBody>
      </p:sp>
      <p:sp>
        <p:nvSpPr>
          <p:cNvPr id="50" name="Shape 35">
            <a:extLst>
              <a:ext uri="{FF2B5EF4-FFF2-40B4-BE49-F238E27FC236}">
                <a16:creationId xmlns:a16="http://schemas.microsoft.com/office/drawing/2014/main" id="{27C29447-7B76-6737-AB3F-571B17CDE75E}"/>
              </a:ext>
            </a:extLst>
          </p:cNvPr>
          <p:cNvSpPr/>
          <p:nvPr/>
        </p:nvSpPr>
        <p:spPr>
          <a:xfrm>
            <a:off x="6823993" y="2833633"/>
            <a:ext cx="329184" cy="329184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1" name="Text 36">
            <a:extLst>
              <a:ext uri="{FF2B5EF4-FFF2-40B4-BE49-F238E27FC236}">
                <a16:creationId xmlns:a16="http://schemas.microsoft.com/office/drawing/2014/main" id="{0B46A61A-CE1A-E9B5-2251-AAEAF33CFD39}"/>
              </a:ext>
            </a:extLst>
          </p:cNvPr>
          <p:cNvSpPr/>
          <p:nvPr/>
        </p:nvSpPr>
        <p:spPr>
          <a:xfrm>
            <a:off x="6823993" y="28336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52" name="Text 37">
            <a:extLst>
              <a:ext uri="{FF2B5EF4-FFF2-40B4-BE49-F238E27FC236}">
                <a16:creationId xmlns:a16="http://schemas.microsoft.com/office/drawing/2014/main" id="{D6A2C0AD-4CCD-5CEC-EDB2-3C3BBC6CF39A}"/>
              </a:ext>
            </a:extLst>
          </p:cNvPr>
          <p:cNvSpPr/>
          <p:nvPr/>
        </p:nvSpPr>
        <p:spPr>
          <a:xfrm>
            <a:off x="7235473" y="2787913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Requirement Analysis</a:t>
            </a:r>
            <a:endParaRPr lang="en-US" sz="1200" dirty="0"/>
          </a:p>
        </p:txBody>
      </p:sp>
      <p:sp>
        <p:nvSpPr>
          <p:cNvPr id="53" name="Text 38">
            <a:extLst>
              <a:ext uri="{FF2B5EF4-FFF2-40B4-BE49-F238E27FC236}">
                <a16:creationId xmlns:a16="http://schemas.microsoft.com/office/drawing/2014/main" id="{7F110047-9DD3-7CE6-3B61-F5EC058EE6DA}"/>
              </a:ext>
            </a:extLst>
          </p:cNvPr>
          <p:cNvSpPr/>
          <p:nvPr/>
        </p:nvSpPr>
        <p:spPr>
          <a:xfrm>
            <a:off x="9384313" y="2787913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</a:rPr>
              <a:t>Understand the problem deeply</a:t>
            </a:r>
            <a:endParaRPr lang="en-US" sz="1000" dirty="0"/>
          </a:p>
        </p:txBody>
      </p:sp>
      <p:sp>
        <p:nvSpPr>
          <p:cNvPr id="55" name="Shape 40">
            <a:extLst>
              <a:ext uri="{FF2B5EF4-FFF2-40B4-BE49-F238E27FC236}">
                <a16:creationId xmlns:a16="http://schemas.microsoft.com/office/drawing/2014/main" id="{A8929777-83EC-35E4-F732-EF07B5EF07E1}"/>
              </a:ext>
            </a:extLst>
          </p:cNvPr>
          <p:cNvSpPr/>
          <p:nvPr/>
        </p:nvSpPr>
        <p:spPr>
          <a:xfrm>
            <a:off x="6823993" y="3281689"/>
            <a:ext cx="329184" cy="329184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6" name="Text 41">
            <a:extLst>
              <a:ext uri="{FF2B5EF4-FFF2-40B4-BE49-F238E27FC236}">
                <a16:creationId xmlns:a16="http://schemas.microsoft.com/office/drawing/2014/main" id="{6258D4A8-D3C5-5DD3-593C-988901D83087}"/>
              </a:ext>
            </a:extLst>
          </p:cNvPr>
          <p:cNvSpPr/>
          <p:nvPr/>
        </p:nvSpPr>
        <p:spPr>
          <a:xfrm>
            <a:off x="6823993" y="32816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7" name="Text 42">
            <a:extLst>
              <a:ext uri="{FF2B5EF4-FFF2-40B4-BE49-F238E27FC236}">
                <a16:creationId xmlns:a16="http://schemas.microsoft.com/office/drawing/2014/main" id="{AFD2D0A8-8734-B25B-4892-75F84A7F80FB}"/>
              </a:ext>
            </a:extLst>
          </p:cNvPr>
          <p:cNvSpPr/>
          <p:nvPr/>
        </p:nvSpPr>
        <p:spPr>
          <a:xfrm>
            <a:off x="7235473" y="3235969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Design &amp; Architecture</a:t>
            </a:r>
            <a:endParaRPr lang="en-US" sz="1200" dirty="0"/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25B3BBE3-4C75-2B7F-7690-BF8C642FF634}"/>
              </a:ext>
            </a:extLst>
          </p:cNvPr>
          <p:cNvSpPr/>
          <p:nvPr/>
        </p:nvSpPr>
        <p:spPr>
          <a:xfrm>
            <a:off x="9384313" y="3235969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</a:rPr>
              <a:t>Wireframes / system design</a:t>
            </a:r>
            <a:endParaRPr lang="en-US" sz="1000" dirty="0"/>
          </a:p>
        </p:txBody>
      </p:sp>
      <p:sp>
        <p:nvSpPr>
          <p:cNvPr id="62" name="Shape 45">
            <a:extLst>
              <a:ext uri="{FF2B5EF4-FFF2-40B4-BE49-F238E27FC236}">
                <a16:creationId xmlns:a16="http://schemas.microsoft.com/office/drawing/2014/main" id="{7D21C299-AA27-AAF4-5D05-E49BC87B4301}"/>
              </a:ext>
            </a:extLst>
          </p:cNvPr>
          <p:cNvSpPr/>
          <p:nvPr/>
        </p:nvSpPr>
        <p:spPr>
          <a:xfrm>
            <a:off x="6823993" y="3729745"/>
            <a:ext cx="329184" cy="329184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63" name="Text 46">
            <a:extLst>
              <a:ext uri="{FF2B5EF4-FFF2-40B4-BE49-F238E27FC236}">
                <a16:creationId xmlns:a16="http://schemas.microsoft.com/office/drawing/2014/main" id="{AE8D9A56-78E4-0901-2495-669C70484734}"/>
              </a:ext>
            </a:extLst>
          </p:cNvPr>
          <p:cNvSpPr/>
          <p:nvPr/>
        </p:nvSpPr>
        <p:spPr>
          <a:xfrm>
            <a:off x="6823993" y="37297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64" name="Text 47">
            <a:extLst>
              <a:ext uri="{FF2B5EF4-FFF2-40B4-BE49-F238E27FC236}">
                <a16:creationId xmlns:a16="http://schemas.microsoft.com/office/drawing/2014/main" id="{32EF6533-1960-8F57-7765-A13289E07A8F}"/>
              </a:ext>
            </a:extLst>
          </p:cNvPr>
          <p:cNvSpPr/>
          <p:nvPr/>
        </p:nvSpPr>
        <p:spPr>
          <a:xfrm>
            <a:off x="7235473" y="3684025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Development Sprint</a:t>
            </a:r>
            <a:endParaRPr lang="en-US" sz="1200" dirty="0"/>
          </a:p>
        </p:txBody>
      </p:sp>
      <p:sp>
        <p:nvSpPr>
          <p:cNvPr id="65" name="Text 48">
            <a:extLst>
              <a:ext uri="{FF2B5EF4-FFF2-40B4-BE49-F238E27FC236}">
                <a16:creationId xmlns:a16="http://schemas.microsoft.com/office/drawing/2014/main" id="{C316355D-F33A-D888-0FAA-C92E9AD5ED2A}"/>
              </a:ext>
            </a:extLst>
          </p:cNvPr>
          <p:cNvSpPr/>
          <p:nvPr/>
        </p:nvSpPr>
        <p:spPr>
          <a:xfrm>
            <a:off x="9384313" y="3684025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</a:rPr>
              <a:t>Agile / iterative building</a:t>
            </a:r>
            <a:endParaRPr lang="en-US" sz="1000" dirty="0"/>
          </a:p>
        </p:txBody>
      </p:sp>
      <p:sp>
        <p:nvSpPr>
          <p:cNvPr id="67" name="Shape 50">
            <a:extLst>
              <a:ext uri="{FF2B5EF4-FFF2-40B4-BE49-F238E27FC236}">
                <a16:creationId xmlns:a16="http://schemas.microsoft.com/office/drawing/2014/main" id="{AC177A0A-1296-5A2B-AA6F-8367C1CABAC3}"/>
              </a:ext>
            </a:extLst>
          </p:cNvPr>
          <p:cNvSpPr/>
          <p:nvPr/>
        </p:nvSpPr>
        <p:spPr>
          <a:xfrm>
            <a:off x="6823993" y="4177801"/>
            <a:ext cx="329184" cy="329184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68" name="Text 51">
            <a:extLst>
              <a:ext uri="{FF2B5EF4-FFF2-40B4-BE49-F238E27FC236}">
                <a16:creationId xmlns:a16="http://schemas.microsoft.com/office/drawing/2014/main" id="{6C10B959-A44C-2E73-ADA3-14AEF6D85830}"/>
              </a:ext>
            </a:extLst>
          </p:cNvPr>
          <p:cNvSpPr/>
          <p:nvPr/>
        </p:nvSpPr>
        <p:spPr>
          <a:xfrm>
            <a:off x="6823993" y="41778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69" name="Text 52">
            <a:extLst>
              <a:ext uri="{FF2B5EF4-FFF2-40B4-BE49-F238E27FC236}">
                <a16:creationId xmlns:a16="http://schemas.microsoft.com/office/drawing/2014/main" id="{72530A3D-CA24-A67B-9B7F-D372EADF45E8}"/>
              </a:ext>
            </a:extLst>
          </p:cNvPr>
          <p:cNvSpPr/>
          <p:nvPr/>
        </p:nvSpPr>
        <p:spPr>
          <a:xfrm>
            <a:off x="7235473" y="4132081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Testing &amp; Validation</a:t>
            </a:r>
            <a:endParaRPr lang="en-US" sz="1200" dirty="0"/>
          </a:p>
        </p:txBody>
      </p:sp>
      <p:sp>
        <p:nvSpPr>
          <p:cNvPr id="70" name="Text 53">
            <a:extLst>
              <a:ext uri="{FF2B5EF4-FFF2-40B4-BE49-F238E27FC236}">
                <a16:creationId xmlns:a16="http://schemas.microsoft.com/office/drawing/2014/main" id="{6D88D698-A3EB-EB62-D45F-6846DA6C0908}"/>
              </a:ext>
            </a:extLst>
          </p:cNvPr>
          <p:cNvSpPr/>
          <p:nvPr/>
        </p:nvSpPr>
        <p:spPr>
          <a:xfrm>
            <a:off x="9384313" y="4132081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</a:rPr>
              <a:t>Unit, integration, UAT</a:t>
            </a:r>
            <a:endParaRPr lang="en-US" sz="1000" dirty="0"/>
          </a:p>
        </p:txBody>
      </p:sp>
      <p:sp>
        <p:nvSpPr>
          <p:cNvPr id="72" name="Shape 55">
            <a:extLst>
              <a:ext uri="{FF2B5EF4-FFF2-40B4-BE49-F238E27FC236}">
                <a16:creationId xmlns:a16="http://schemas.microsoft.com/office/drawing/2014/main" id="{79A31ACF-1A89-3C94-1B30-AAC419E97094}"/>
              </a:ext>
            </a:extLst>
          </p:cNvPr>
          <p:cNvSpPr/>
          <p:nvPr/>
        </p:nvSpPr>
        <p:spPr>
          <a:xfrm>
            <a:off x="6823993" y="4625857"/>
            <a:ext cx="329184" cy="329184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73" name="Text 56">
            <a:extLst>
              <a:ext uri="{FF2B5EF4-FFF2-40B4-BE49-F238E27FC236}">
                <a16:creationId xmlns:a16="http://schemas.microsoft.com/office/drawing/2014/main" id="{F0982575-608D-F391-5209-5CAD0AE3A545}"/>
              </a:ext>
            </a:extLst>
          </p:cNvPr>
          <p:cNvSpPr/>
          <p:nvPr/>
        </p:nvSpPr>
        <p:spPr>
          <a:xfrm>
            <a:off x="6823993" y="46258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4" name="Text 57">
            <a:extLst>
              <a:ext uri="{FF2B5EF4-FFF2-40B4-BE49-F238E27FC236}">
                <a16:creationId xmlns:a16="http://schemas.microsoft.com/office/drawing/2014/main" id="{E4ACE38F-D93A-D482-347E-B062776A371A}"/>
              </a:ext>
            </a:extLst>
          </p:cNvPr>
          <p:cNvSpPr/>
          <p:nvPr/>
        </p:nvSpPr>
        <p:spPr>
          <a:xfrm>
            <a:off x="7235473" y="4580137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Deployment &amp; Demo</a:t>
            </a:r>
            <a:endParaRPr lang="en-US" sz="1200" dirty="0"/>
          </a:p>
        </p:txBody>
      </p:sp>
      <p:sp>
        <p:nvSpPr>
          <p:cNvPr id="75" name="Text 58">
            <a:extLst>
              <a:ext uri="{FF2B5EF4-FFF2-40B4-BE49-F238E27FC236}">
                <a16:creationId xmlns:a16="http://schemas.microsoft.com/office/drawing/2014/main" id="{645D7462-3E9B-B74B-4FC6-7949684E3FFB}"/>
              </a:ext>
            </a:extLst>
          </p:cNvPr>
          <p:cNvSpPr/>
          <p:nvPr/>
        </p:nvSpPr>
        <p:spPr>
          <a:xfrm>
            <a:off x="9384313" y="4580137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080"/>
                </a:solidFill>
              </a:rPr>
              <a:t>Live prototype / presentation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10715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86FB44-7F4C-4079-EA54-57F5050E45B0}"/>
              </a:ext>
            </a:extLst>
          </p:cNvPr>
          <p:cNvSpPr/>
          <p:nvPr/>
        </p:nvSpPr>
        <p:spPr>
          <a:xfrm>
            <a:off x="201168" y="0"/>
            <a:ext cx="11789664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398330-BBD8-13F6-168D-FA00B52243A4}"/>
              </a:ext>
            </a:extLst>
          </p:cNvPr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D4F56A7-66F4-765E-535C-974E8428EFB8}"/>
              </a:ext>
            </a:extLst>
          </p:cNvPr>
          <p:cNvSpPr/>
          <p:nvPr/>
        </p:nvSpPr>
        <p:spPr>
          <a:xfrm>
            <a:off x="11990832" y="0"/>
            <a:ext cx="201168" cy="91440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325DD77-1CB8-131E-C491-34FF6E8F0F9C}"/>
              </a:ext>
            </a:extLst>
          </p:cNvPr>
          <p:cNvSpPr/>
          <p:nvPr/>
        </p:nvSpPr>
        <p:spPr>
          <a:xfrm>
            <a:off x="2028226" y="1097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26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405837A-78F8-BB85-2F7E-45C6128F060A}"/>
              </a:ext>
            </a:extLst>
          </p:cNvPr>
          <p:cNvSpPr/>
          <p:nvPr/>
        </p:nvSpPr>
        <p:spPr>
          <a:xfrm>
            <a:off x="492034" y="89589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A6B"/>
                </a:solidFill>
              </a:rPr>
              <a:t>Your Team Name</a:t>
            </a:r>
            <a:endParaRPr lang="en-US" sz="1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68D5A19-1D92-428D-421E-A5339213F0A4}"/>
              </a:ext>
            </a:extLst>
          </p:cNvPr>
          <p:cNvSpPr/>
          <p:nvPr/>
        </p:nvSpPr>
        <p:spPr>
          <a:xfrm>
            <a:off x="1" y="6487668"/>
            <a:ext cx="12192000" cy="3703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EC0111AF-2257-E818-E9FB-C44AA7AD1076}"/>
              </a:ext>
            </a:extLst>
          </p:cNvPr>
          <p:cNvSpPr/>
          <p:nvPr/>
        </p:nvSpPr>
        <p:spPr>
          <a:xfrm>
            <a:off x="2046514" y="5870448"/>
            <a:ext cx="77724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</a:t>
            </a:r>
            <a:endParaRPr lang="en-US" sz="11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EBC65D8-58C2-4B05-CD04-BE4B25E1E525}"/>
              </a:ext>
            </a:extLst>
          </p:cNvPr>
          <p:cNvSpPr/>
          <p:nvPr/>
        </p:nvSpPr>
        <p:spPr>
          <a:xfrm>
            <a:off x="11762231" y="6505956"/>
            <a:ext cx="4572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42" name="Picture 41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F38B93B2-2DE8-52B8-10FE-DE606B083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179" y="202257"/>
            <a:ext cx="2959104" cy="633521"/>
          </a:xfrm>
          <a:prstGeom prst="rect">
            <a:avLst/>
          </a:prstGeom>
        </p:spPr>
      </p:pic>
      <p:pic>
        <p:nvPicPr>
          <p:cNvPr id="59" name="Picture 5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D259833-BEB6-B9EE-7810-0ADA36644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" y="6566589"/>
            <a:ext cx="1611086" cy="249066"/>
          </a:xfrm>
          <a:prstGeom prst="rect">
            <a:avLst/>
          </a:prstGeom>
        </p:spPr>
      </p:pic>
      <p:sp>
        <p:nvSpPr>
          <p:cNvPr id="61" name="Text 3">
            <a:extLst>
              <a:ext uri="{FF2B5EF4-FFF2-40B4-BE49-F238E27FC236}">
                <a16:creationId xmlns:a16="http://schemas.microsoft.com/office/drawing/2014/main" id="{0B2E74BB-52EB-1CB5-3192-DB41DB0EC53D}"/>
              </a:ext>
            </a:extLst>
          </p:cNvPr>
          <p:cNvSpPr/>
          <p:nvPr/>
        </p:nvSpPr>
        <p:spPr>
          <a:xfrm>
            <a:off x="347472" y="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26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701AC68-E930-29B4-F35D-880BD0F4E9DD}"/>
              </a:ext>
            </a:extLst>
          </p:cNvPr>
          <p:cNvSpPr/>
          <p:nvPr/>
        </p:nvSpPr>
        <p:spPr>
          <a:xfrm>
            <a:off x="283028" y="2011680"/>
            <a:ext cx="3753394" cy="3753394"/>
          </a:xfrm>
          <a:prstGeom prst="roundRect">
            <a:avLst>
              <a:gd name="adj" fmla="val 4237"/>
            </a:avLst>
          </a:prstGeom>
          <a:noFill/>
          <a:ln w="38100">
            <a:solidFill>
              <a:srgbClr val="0A2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3213FE9-8BE0-E00A-2CDC-ED02C4ECC82F}"/>
              </a:ext>
            </a:extLst>
          </p:cNvPr>
          <p:cNvSpPr/>
          <p:nvPr/>
        </p:nvSpPr>
        <p:spPr>
          <a:xfrm>
            <a:off x="4228011" y="2011680"/>
            <a:ext cx="3753394" cy="3753394"/>
          </a:xfrm>
          <a:prstGeom prst="roundRect">
            <a:avLst>
              <a:gd name="adj" fmla="val 3984"/>
            </a:avLst>
          </a:prstGeom>
          <a:noFill/>
          <a:ln w="38100">
            <a:solidFill>
              <a:srgbClr val="FF6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21FF374-FF58-BCEF-3D83-2DF67ED07632}"/>
              </a:ext>
            </a:extLst>
          </p:cNvPr>
          <p:cNvSpPr/>
          <p:nvPr/>
        </p:nvSpPr>
        <p:spPr>
          <a:xfrm>
            <a:off x="8172994" y="2038432"/>
            <a:ext cx="3753394" cy="3753394"/>
          </a:xfrm>
          <a:prstGeom prst="roundRect">
            <a:avLst>
              <a:gd name="adj" fmla="val 4111"/>
            </a:avLst>
          </a:prstGeom>
          <a:noFill/>
          <a:ln w="38100">
            <a:solidFill>
              <a:srgbClr val="1388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74B1552-15FB-2036-EBD7-F7396FAED398}"/>
              </a:ext>
            </a:extLst>
          </p:cNvPr>
          <p:cNvSpPr/>
          <p:nvPr/>
        </p:nvSpPr>
        <p:spPr>
          <a:xfrm>
            <a:off x="283028" y="2011680"/>
            <a:ext cx="3753394" cy="347036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0339D56-824A-D2E3-5281-325975769DC3}"/>
              </a:ext>
            </a:extLst>
          </p:cNvPr>
          <p:cNvSpPr/>
          <p:nvPr/>
        </p:nvSpPr>
        <p:spPr>
          <a:xfrm>
            <a:off x="4228011" y="2011680"/>
            <a:ext cx="3753394" cy="347036"/>
          </a:xfrm>
          <a:prstGeom prst="roundRect">
            <a:avLst>
              <a:gd name="adj" fmla="val 50000"/>
            </a:avLst>
          </a:prstGeom>
          <a:solidFill>
            <a:srgbClr val="FF6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8FDFB90-9522-3780-0826-F865806A4D4B}"/>
              </a:ext>
            </a:extLst>
          </p:cNvPr>
          <p:cNvSpPr/>
          <p:nvPr/>
        </p:nvSpPr>
        <p:spPr>
          <a:xfrm>
            <a:off x="8172994" y="2038432"/>
            <a:ext cx="3753394" cy="347036"/>
          </a:xfrm>
          <a:prstGeom prst="roundRect">
            <a:avLst>
              <a:gd name="adj" fmla="val 50000"/>
            </a:avLst>
          </a:prstGeom>
          <a:solidFill>
            <a:srgbClr val="1388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0B96E01F-D87B-5EFC-01F5-DBF379975BBA}"/>
              </a:ext>
            </a:extLst>
          </p:cNvPr>
          <p:cNvSpPr/>
          <p:nvPr/>
        </p:nvSpPr>
        <p:spPr>
          <a:xfrm>
            <a:off x="638121" y="250590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C857AC4D-802E-EF01-E0EE-4D981DDBF8FA}"/>
              </a:ext>
            </a:extLst>
          </p:cNvPr>
          <p:cNvSpPr/>
          <p:nvPr/>
        </p:nvSpPr>
        <p:spPr>
          <a:xfrm>
            <a:off x="874993" y="3091134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Feasibility Analysis</a:t>
            </a:r>
            <a:endParaRPr lang="en-US" sz="13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E1A43CF4-D4D2-E034-7B01-7CDA0D47383E}"/>
              </a:ext>
            </a:extLst>
          </p:cNvPr>
          <p:cNvSpPr/>
          <p:nvPr/>
        </p:nvSpPr>
        <p:spPr>
          <a:xfrm>
            <a:off x="874993" y="364891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Technical feasibility of implementation</a:t>
            </a:r>
            <a:endParaRPr lang="en-US" sz="11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E2D42ABB-2AD9-5F38-8A8B-17D7134B29AA}"/>
              </a:ext>
            </a:extLst>
          </p:cNvPr>
          <p:cNvSpPr/>
          <p:nvPr/>
        </p:nvSpPr>
        <p:spPr>
          <a:xfrm>
            <a:off x="874993" y="406954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Resource availability (team skills, tools)</a:t>
            </a:r>
            <a:endParaRPr lang="en-US" sz="1100" dirty="0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F993F271-244F-5CFB-52EE-167AEC2AAABF}"/>
              </a:ext>
            </a:extLst>
          </p:cNvPr>
          <p:cNvSpPr/>
          <p:nvPr/>
        </p:nvSpPr>
        <p:spPr>
          <a:xfrm>
            <a:off x="874993" y="4490166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Timeline realistic within 36 hrs</a:t>
            </a:r>
            <a:endParaRPr lang="en-US" sz="110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95E799D9-E0A0-51F0-36A8-30D54DDA28FB}"/>
              </a:ext>
            </a:extLst>
          </p:cNvPr>
          <p:cNvSpPr/>
          <p:nvPr/>
        </p:nvSpPr>
        <p:spPr>
          <a:xfrm>
            <a:off x="874993" y="491079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Existing infrastructure needs</a:t>
            </a:r>
            <a:endParaRPr lang="en-US" sz="1100" dirty="0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EE5892AE-D525-A170-86B8-72C3EF99108E}"/>
              </a:ext>
            </a:extLst>
          </p:cNvPr>
          <p:cNvSpPr/>
          <p:nvPr/>
        </p:nvSpPr>
        <p:spPr>
          <a:xfrm>
            <a:off x="4801253" y="2484555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9C73F5A1-5BE6-F7EF-D512-D2C1E32475AB}"/>
              </a:ext>
            </a:extLst>
          </p:cNvPr>
          <p:cNvSpPr/>
          <p:nvPr/>
        </p:nvSpPr>
        <p:spPr>
          <a:xfrm>
            <a:off x="5011565" y="3083596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00"/>
                </a:solidFill>
              </a:rPr>
              <a:t>Potential Challenges &amp; Risks</a:t>
            </a:r>
            <a:endParaRPr lang="en-US" sz="1300" dirty="0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25918820-7C79-E8FE-45AC-05431DBA9FFC}"/>
              </a:ext>
            </a:extLst>
          </p:cNvPr>
          <p:cNvSpPr/>
          <p:nvPr/>
        </p:nvSpPr>
        <p:spPr>
          <a:xfrm>
            <a:off x="5011565" y="364138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Integration complexity</a:t>
            </a:r>
            <a:endParaRPr lang="en-US" sz="1100" dirty="0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DA4A73F7-CFA5-BACC-4487-63447129D546}"/>
              </a:ext>
            </a:extLst>
          </p:cNvPr>
          <p:cNvSpPr/>
          <p:nvPr/>
        </p:nvSpPr>
        <p:spPr>
          <a:xfrm>
            <a:off x="5011565" y="4062004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Data privacy / security concerns</a:t>
            </a:r>
            <a:endParaRPr lang="en-US" sz="11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34B7124A-273E-3128-9B81-E19FB56D4056}"/>
              </a:ext>
            </a:extLst>
          </p:cNvPr>
          <p:cNvSpPr/>
          <p:nvPr/>
        </p:nvSpPr>
        <p:spPr>
          <a:xfrm>
            <a:off x="5011565" y="4482628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Scalability under high load</a:t>
            </a:r>
            <a:endParaRPr lang="en-US" sz="1100" dirty="0"/>
          </a:p>
        </p:txBody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FBA07866-7C2D-E619-2F27-BF4D426C8DB3}"/>
              </a:ext>
            </a:extLst>
          </p:cNvPr>
          <p:cNvSpPr/>
          <p:nvPr/>
        </p:nvSpPr>
        <p:spPr>
          <a:xfrm>
            <a:off x="5011565" y="490325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Dependency on third-party APIs</a:t>
            </a:r>
            <a:endParaRPr lang="en-US" sz="1100" dirty="0"/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11EF62A9-49AD-BF38-61F0-7640F45C5DE6}"/>
              </a:ext>
            </a:extLst>
          </p:cNvPr>
          <p:cNvSpPr/>
          <p:nvPr/>
        </p:nvSpPr>
        <p:spPr>
          <a:xfrm>
            <a:off x="8754073" y="2514247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4A80C7F4-4E8C-AD2D-37D3-B761C57CC26E}"/>
              </a:ext>
            </a:extLst>
          </p:cNvPr>
          <p:cNvSpPr/>
          <p:nvPr/>
        </p:nvSpPr>
        <p:spPr>
          <a:xfrm>
            <a:off x="8874687" y="3105477"/>
            <a:ext cx="2578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8808"/>
                </a:solidFill>
              </a:rPr>
              <a:t>Mitigation Strategies</a:t>
            </a:r>
            <a:endParaRPr lang="en-US" sz="1300" dirty="0"/>
          </a:p>
        </p:txBody>
      </p:sp>
      <p:sp>
        <p:nvSpPr>
          <p:cNvPr id="77" name="Text 29">
            <a:extLst>
              <a:ext uri="{FF2B5EF4-FFF2-40B4-BE49-F238E27FC236}">
                <a16:creationId xmlns:a16="http://schemas.microsoft.com/office/drawing/2014/main" id="{45362F82-C544-8558-9CE6-EFD4105BD741}"/>
              </a:ext>
            </a:extLst>
          </p:cNvPr>
          <p:cNvSpPr/>
          <p:nvPr/>
        </p:nvSpPr>
        <p:spPr>
          <a:xfrm>
            <a:off x="8874687" y="3663261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Modular architecture for flexibility</a:t>
            </a:r>
            <a:endParaRPr lang="en-US" sz="1100" dirty="0"/>
          </a:p>
        </p:txBody>
      </p:sp>
      <p:sp>
        <p:nvSpPr>
          <p:cNvPr id="78" name="Text 30">
            <a:extLst>
              <a:ext uri="{FF2B5EF4-FFF2-40B4-BE49-F238E27FC236}">
                <a16:creationId xmlns:a16="http://schemas.microsoft.com/office/drawing/2014/main" id="{E3111B16-5ED9-E16D-2EF4-5C2A2E66F903}"/>
              </a:ext>
            </a:extLst>
          </p:cNvPr>
          <p:cNvSpPr/>
          <p:nvPr/>
        </p:nvSpPr>
        <p:spPr>
          <a:xfrm>
            <a:off x="8874687" y="4083885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Encryption &amp; secure auth layer</a:t>
            </a:r>
            <a:endParaRPr lang="en-US" sz="1100" dirty="0"/>
          </a:p>
        </p:txBody>
      </p:sp>
      <p:sp>
        <p:nvSpPr>
          <p:cNvPr id="79" name="Text 31">
            <a:extLst>
              <a:ext uri="{FF2B5EF4-FFF2-40B4-BE49-F238E27FC236}">
                <a16:creationId xmlns:a16="http://schemas.microsoft.com/office/drawing/2014/main" id="{C8E207C3-8791-A62C-454B-01486EF30504}"/>
              </a:ext>
            </a:extLst>
          </p:cNvPr>
          <p:cNvSpPr/>
          <p:nvPr/>
        </p:nvSpPr>
        <p:spPr>
          <a:xfrm>
            <a:off x="8874687" y="4504509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Load testing + cloud auto-scaling</a:t>
            </a:r>
            <a:endParaRPr lang="en-US" sz="110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1B9574CE-3F57-3040-0B74-FD43FFC3B2F8}"/>
              </a:ext>
            </a:extLst>
          </p:cNvPr>
          <p:cNvSpPr/>
          <p:nvPr/>
        </p:nvSpPr>
        <p:spPr>
          <a:xfrm>
            <a:off x="8874687" y="4925133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▸  Fallback mechanisms for APIs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2640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86FB44-7F4C-4079-EA54-57F5050E45B0}"/>
              </a:ext>
            </a:extLst>
          </p:cNvPr>
          <p:cNvSpPr/>
          <p:nvPr/>
        </p:nvSpPr>
        <p:spPr>
          <a:xfrm>
            <a:off x="201168" y="0"/>
            <a:ext cx="11789664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398330-BBD8-13F6-168D-FA00B52243A4}"/>
              </a:ext>
            </a:extLst>
          </p:cNvPr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D4F56A7-66F4-765E-535C-974E8428EFB8}"/>
              </a:ext>
            </a:extLst>
          </p:cNvPr>
          <p:cNvSpPr/>
          <p:nvPr/>
        </p:nvSpPr>
        <p:spPr>
          <a:xfrm>
            <a:off x="11990832" y="0"/>
            <a:ext cx="201168" cy="91440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325DD77-1CB8-131E-C491-34FF6E8F0F9C}"/>
              </a:ext>
            </a:extLst>
          </p:cNvPr>
          <p:cNvSpPr/>
          <p:nvPr/>
        </p:nvSpPr>
        <p:spPr>
          <a:xfrm>
            <a:off x="2028226" y="1097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26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405837A-78F8-BB85-2F7E-45C6128F060A}"/>
              </a:ext>
            </a:extLst>
          </p:cNvPr>
          <p:cNvSpPr/>
          <p:nvPr/>
        </p:nvSpPr>
        <p:spPr>
          <a:xfrm>
            <a:off x="492034" y="89589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A6B"/>
                </a:solidFill>
              </a:rPr>
              <a:t>Your Team Name</a:t>
            </a:r>
            <a:endParaRPr lang="en-US" sz="1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68D5A19-1D92-428D-421E-A5339213F0A4}"/>
              </a:ext>
            </a:extLst>
          </p:cNvPr>
          <p:cNvSpPr/>
          <p:nvPr/>
        </p:nvSpPr>
        <p:spPr>
          <a:xfrm>
            <a:off x="1" y="6487668"/>
            <a:ext cx="12192000" cy="3703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EBC65D8-58C2-4B05-CD04-BE4B25E1E525}"/>
              </a:ext>
            </a:extLst>
          </p:cNvPr>
          <p:cNvSpPr/>
          <p:nvPr/>
        </p:nvSpPr>
        <p:spPr>
          <a:xfrm>
            <a:off x="11762231" y="6505956"/>
            <a:ext cx="4572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A17CC5-E8E6-1A95-AB67-398A48827493}"/>
              </a:ext>
            </a:extLst>
          </p:cNvPr>
          <p:cNvSpPr/>
          <p:nvPr/>
        </p:nvSpPr>
        <p:spPr>
          <a:xfrm>
            <a:off x="201167" y="1309742"/>
            <a:ext cx="11789664" cy="454751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2" name="Picture 41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F38B93B2-2DE8-52B8-10FE-DE606B083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179" y="202257"/>
            <a:ext cx="2959104" cy="633521"/>
          </a:xfrm>
          <a:prstGeom prst="rect">
            <a:avLst/>
          </a:prstGeom>
        </p:spPr>
      </p:pic>
      <p:sp>
        <p:nvSpPr>
          <p:cNvPr id="25" name="Text 11">
            <a:extLst>
              <a:ext uri="{FF2B5EF4-FFF2-40B4-BE49-F238E27FC236}">
                <a16:creationId xmlns:a16="http://schemas.microsoft.com/office/drawing/2014/main" id="{8DCBB7C9-3E44-5F5F-B4AF-BBAF8EC818A7}"/>
              </a:ext>
            </a:extLst>
          </p:cNvPr>
          <p:cNvSpPr/>
          <p:nvPr/>
        </p:nvSpPr>
        <p:spPr>
          <a:xfrm>
            <a:off x="428614" y="129921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🎯  Potential Impact on Target Audience</a:t>
            </a:r>
            <a:endParaRPr lang="en-US" sz="1600" dirty="0"/>
          </a:p>
        </p:txBody>
      </p:sp>
      <p:pic>
        <p:nvPicPr>
          <p:cNvPr id="59" name="Picture 5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D259833-BEB6-B9EE-7810-0ADA36644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" y="6566589"/>
            <a:ext cx="1611086" cy="249066"/>
          </a:xfrm>
          <a:prstGeom prst="rect">
            <a:avLst/>
          </a:prstGeom>
        </p:spPr>
      </p:pic>
      <p:sp>
        <p:nvSpPr>
          <p:cNvPr id="61" name="Text 3">
            <a:extLst>
              <a:ext uri="{FF2B5EF4-FFF2-40B4-BE49-F238E27FC236}">
                <a16:creationId xmlns:a16="http://schemas.microsoft.com/office/drawing/2014/main" id="{0B2E74BB-52EB-1CB5-3192-DB41DB0EC53D}"/>
              </a:ext>
            </a:extLst>
          </p:cNvPr>
          <p:cNvSpPr/>
          <p:nvPr/>
        </p:nvSpPr>
        <p:spPr>
          <a:xfrm>
            <a:off x="347472" y="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58326D-1AE6-D8B9-42BB-66ED145FF709}"/>
              </a:ext>
            </a:extLst>
          </p:cNvPr>
          <p:cNvSpPr/>
          <p:nvPr/>
        </p:nvSpPr>
        <p:spPr>
          <a:xfrm>
            <a:off x="283028" y="1973580"/>
            <a:ext cx="3848318" cy="1793966"/>
          </a:xfrm>
          <a:prstGeom prst="roundRect">
            <a:avLst>
              <a:gd name="adj" fmla="val 4237"/>
            </a:avLst>
          </a:prstGeom>
          <a:noFill/>
          <a:ln w="38100">
            <a:solidFill>
              <a:srgbClr val="0A2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FE9EFC-7B3C-746D-6731-972A28C22263}"/>
              </a:ext>
            </a:extLst>
          </p:cNvPr>
          <p:cNvSpPr/>
          <p:nvPr/>
        </p:nvSpPr>
        <p:spPr>
          <a:xfrm>
            <a:off x="283028" y="1973580"/>
            <a:ext cx="3848318" cy="205740"/>
          </a:xfrm>
          <a:prstGeom prst="roundRect">
            <a:avLst>
              <a:gd name="adj" fmla="val 28043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0E514A-8A4D-A261-1E76-633FC507A0D8}"/>
              </a:ext>
            </a:extLst>
          </p:cNvPr>
          <p:cNvSpPr/>
          <p:nvPr/>
        </p:nvSpPr>
        <p:spPr>
          <a:xfrm>
            <a:off x="4323805" y="1950720"/>
            <a:ext cx="4106092" cy="1793966"/>
          </a:xfrm>
          <a:prstGeom prst="roundRect">
            <a:avLst>
              <a:gd name="adj" fmla="val 4237"/>
            </a:avLst>
          </a:prstGeom>
          <a:noFill/>
          <a:ln w="38100">
            <a:solidFill>
              <a:srgbClr val="0A2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E37425-D67F-D1DB-B25E-14E376574A68}"/>
              </a:ext>
            </a:extLst>
          </p:cNvPr>
          <p:cNvSpPr/>
          <p:nvPr/>
        </p:nvSpPr>
        <p:spPr>
          <a:xfrm>
            <a:off x="4323805" y="1950720"/>
            <a:ext cx="4106092" cy="205740"/>
          </a:xfrm>
          <a:prstGeom prst="roundRect">
            <a:avLst>
              <a:gd name="adj" fmla="val 28043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FC9E16-1BBB-8094-1CDB-EBBDB401CD24}"/>
              </a:ext>
            </a:extLst>
          </p:cNvPr>
          <p:cNvSpPr/>
          <p:nvPr/>
        </p:nvSpPr>
        <p:spPr>
          <a:xfrm>
            <a:off x="8658214" y="1950720"/>
            <a:ext cx="3254242" cy="1793966"/>
          </a:xfrm>
          <a:prstGeom prst="roundRect">
            <a:avLst>
              <a:gd name="adj" fmla="val 4237"/>
            </a:avLst>
          </a:prstGeom>
          <a:noFill/>
          <a:ln w="38100">
            <a:solidFill>
              <a:srgbClr val="0A2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CF09CE-A9FA-9E1F-993E-1E29089BD4FB}"/>
              </a:ext>
            </a:extLst>
          </p:cNvPr>
          <p:cNvSpPr/>
          <p:nvPr/>
        </p:nvSpPr>
        <p:spPr>
          <a:xfrm>
            <a:off x="8658214" y="1950720"/>
            <a:ext cx="3250758" cy="205740"/>
          </a:xfrm>
          <a:prstGeom prst="roundRect">
            <a:avLst>
              <a:gd name="adj" fmla="val 28043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C55171-498A-9E8F-E48B-9BEDBF7DCC1D}"/>
              </a:ext>
            </a:extLst>
          </p:cNvPr>
          <p:cNvSpPr/>
          <p:nvPr/>
        </p:nvSpPr>
        <p:spPr>
          <a:xfrm>
            <a:off x="159439" y="3925987"/>
            <a:ext cx="11789664" cy="454751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7007390-AA97-94E7-E5DF-43D22C06631B}"/>
              </a:ext>
            </a:extLst>
          </p:cNvPr>
          <p:cNvSpPr/>
          <p:nvPr/>
        </p:nvSpPr>
        <p:spPr>
          <a:xfrm>
            <a:off x="386886" y="3915455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🌟  Benefits of the Solution</a:t>
            </a:r>
            <a:endParaRPr lang="en-US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A22875B-0F18-BDE1-846C-53D12EEFFEF0}"/>
              </a:ext>
            </a:extLst>
          </p:cNvPr>
          <p:cNvSpPr/>
          <p:nvPr/>
        </p:nvSpPr>
        <p:spPr>
          <a:xfrm>
            <a:off x="262610" y="4513625"/>
            <a:ext cx="2891298" cy="1793966"/>
          </a:xfrm>
          <a:prstGeom prst="roundRect">
            <a:avLst>
              <a:gd name="adj" fmla="val 4237"/>
            </a:avLst>
          </a:prstGeom>
          <a:noFill/>
          <a:ln w="38100">
            <a:solidFill>
              <a:srgbClr val="0A2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9361F9-1294-CB58-B77D-95C407492A04}"/>
              </a:ext>
            </a:extLst>
          </p:cNvPr>
          <p:cNvSpPr/>
          <p:nvPr/>
        </p:nvSpPr>
        <p:spPr>
          <a:xfrm>
            <a:off x="262610" y="4513625"/>
            <a:ext cx="2891298" cy="205740"/>
          </a:xfrm>
          <a:prstGeom prst="roundRect">
            <a:avLst>
              <a:gd name="adj" fmla="val 28043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20171F8-6F73-B933-F0F6-1EB9C24ADA5A}"/>
              </a:ext>
            </a:extLst>
          </p:cNvPr>
          <p:cNvSpPr/>
          <p:nvPr/>
        </p:nvSpPr>
        <p:spPr>
          <a:xfrm>
            <a:off x="3307265" y="4490765"/>
            <a:ext cx="2804516" cy="1793966"/>
          </a:xfrm>
          <a:prstGeom prst="roundRect">
            <a:avLst>
              <a:gd name="adj" fmla="val 4237"/>
            </a:avLst>
          </a:prstGeom>
          <a:noFill/>
          <a:ln w="38100">
            <a:solidFill>
              <a:srgbClr val="0A2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819888-0390-DB76-1210-8BF75BCF2371}"/>
              </a:ext>
            </a:extLst>
          </p:cNvPr>
          <p:cNvSpPr/>
          <p:nvPr/>
        </p:nvSpPr>
        <p:spPr>
          <a:xfrm>
            <a:off x="3307265" y="4490765"/>
            <a:ext cx="2804516" cy="205740"/>
          </a:xfrm>
          <a:prstGeom prst="roundRect">
            <a:avLst>
              <a:gd name="adj" fmla="val 28043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6C872CB-E1DE-39AD-0979-B011DB61286F}"/>
              </a:ext>
            </a:extLst>
          </p:cNvPr>
          <p:cNvSpPr/>
          <p:nvPr/>
        </p:nvSpPr>
        <p:spPr>
          <a:xfrm>
            <a:off x="6269979" y="4490765"/>
            <a:ext cx="2689456" cy="1793966"/>
          </a:xfrm>
          <a:prstGeom prst="roundRect">
            <a:avLst>
              <a:gd name="adj" fmla="val 4237"/>
            </a:avLst>
          </a:prstGeom>
          <a:noFill/>
          <a:ln w="38100">
            <a:solidFill>
              <a:srgbClr val="0A2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DE30434-8507-EE99-9399-7D7768525DAD}"/>
              </a:ext>
            </a:extLst>
          </p:cNvPr>
          <p:cNvSpPr/>
          <p:nvPr/>
        </p:nvSpPr>
        <p:spPr>
          <a:xfrm>
            <a:off x="6269677" y="4490765"/>
            <a:ext cx="2686577" cy="205740"/>
          </a:xfrm>
          <a:prstGeom prst="roundRect">
            <a:avLst>
              <a:gd name="adj" fmla="val 28043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AD4EEFD-2DD6-7A17-421D-4B5BD19F8E59}"/>
              </a:ext>
            </a:extLst>
          </p:cNvPr>
          <p:cNvSpPr/>
          <p:nvPr/>
        </p:nvSpPr>
        <p:spPr>
          <a:xfrm>
            <a:off x="9127479" y="4502440"/>
            <a:ext cx="2689456" cy="1793966"/>
          </a:xfrm>
          <a:prstGeom prst="roundRect">
            <a:avLst>
              <a:gd name="adj" fmla="val 4237"/>
            </a:avLst>
          </a:prstGeom>
          <a:noFill/>
          <a:ln w="38100">
            <a:solidFill>
              <a:srgbClr val="0A2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531A990-9B10-2CDB-59DC-762D930DDD48}"/>
              </a:ext>
            </a:extLst>
          </p:cNvPr>
          <p:cNvSpPr/>
          <p:nvPr/>
        </p:nvSpPr>
        <p:spPr>
          <a:xfrm>
            <a:off x="9127177" y="4502440"/>
            <a:ext cx="2686577" cy="205740"/>
          </a:xfrm>
          <a:prstGeom prst="roundRect">
            <a:avLst>
              <a:gd name="adj" fmla="val 28043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E75254C8-8877-9232-D3B7-98FE34225B6A}"/>
              </a:ext>
            </a:extLst>
          </p:cNvPr>
          <p:cNvSpPr/>
          <p:nvPr/>
        </p:nvSpPr>
        <p:spPr>
          <a:xfrm>
            <a:off x="386886" y="232181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👥  Target Users</a:t>
            </a:r>
            <a:endParaRPr lang="en-US" sz="14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F7DDA3DB-F7EE-9EEB-98AC-2FBE7CDBC0E4}"/>
              </a:ext>
            </a:extLst>
          </p:cNvPr>
          <p:cNvSpPr/>
          <p:nvPr/>
        </p:nvSpPr>
        <p:spPr>
          <a:xfrm>
            <a:off x="376000" y="282861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</a:rPr>
              <a:t>[Who directly benefits — citizens, students, farmers, govt. officers, etc.]</a:t>
            </a:r>
            <a:endParaRPr lang="en-US" sz="110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B2EAFDE0-4C35-2F2C-454A-C5C960500C15}"/>
              </a:ext>
            </a:extLst>
          </p:cNvPr>
          <p:cNvSpPr/>
          <p:nvPr/>
        </p:nvSpPr>
        <p:spPr>
          <a:xfrm>
            <a:off x="4542028" y="2313133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00"/>
                </a:solidFill>
              </a:rPr>
              <a:t>📈  Scale</a:t>
            </a:r>
            <a:endParaRPr lang="en-US" sz="14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A165EB43-F61A-8AE5-B668-D1CFEE6EB493}"/>
              </a:ext>
            </a:extLst>
          </p:cNvPr>
          <p:cNvSpPr/>
          <p:nvPr/>
        </p:nvSpPr>
        <p:spPr>
          <a:xfrm>
            <a:off x="4542028" y="2828616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</a:rPr>
              <a:t>[Estimated reach — local / state / national / global]</a:t>
            </a:r>
            <a:endParaRPr lang="en-US" sz="1100" dirty="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1E6671F7-A3A2-C277-D30F-ED6AC2AED343}"/>
              </a:ext>
            </a:extLst>
          </p:cNvPr>
          <p:cNvSpPr/>
          <p:nvPr/>
        </p:nvSpPr>
        <p:spPr>
          <a:xfrm>
            <a:off x="8832344" y="2288875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8808"/>
                </a:solidFill>
              </a:rPr>
              <a:t>⏱️  Time Saved</a:t>
            </a:r>
            <a:endParaRPr lang="en-US" sz="14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245B4CEF-5BC3-6A62-1C5B-1D94943E354B}"/>
              </a:ext>
            </a:extLst>
          </p:cNvPr>
          <p:cNvSpPr/>
          <p:nvPr/>
        </p:nvSpPr>
        <p:spPr>
          <a:xfrm>
            <a:off x="8832344" y="2794625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7080"/>
                </a:solidFill>
              </a:rPr>
              <a:t>[Quantify efficiency gain if possible — e.g. 40% faster processing]</a:t>
            </a:r>
            <a:endParaRPr lang="en-US" sz="1100" dirty="0"/>
          </a:p>
        </p:txBody>
      </p:sp>
      <p:sp>
        <p:nvSpPr>
          <p:cNvPr id="50" name="Text 28">
            <a:extLst>
              <a:ext uri="{FF2B5EF4-FFF2-40B4-BE49-F238E27FC236}">
                <a16:creationId xmlns:a16="http://schemas.microsoft.com/office/drawing/2014/main" id="{51A13E24-88C6-558E-6705-CBA9D37B2B52}"/>
              </a:ext>
            </a:extLst>
          </p:cNvPr>
          <p:cNvSpPr/>
          <p:nvPr/>
        </p:nvSpPr>
        <p:spPr>
          <a:xfrm>
            <a:off x="968901" y="5065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🤝  Social</a:t>
            </a:r>
            <a:endParaRPr lang="en-US" sz="120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EF3D6589-ADE0-86A6-33DF-8E5415C3AFBD}"/>
              </a:ext>
            </a:extLst>
          </p:cNvPr>
          <p:cNvSpPr/>
          <p:nvPr/>
        </p:nvSpPr>
        <p:spPr>
          <a:xfrm>
            <a:off x="968901" y="5357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</a:rPr>
              <a:t>[Improves quality of life, accessibility, inclusion]</a:t>
            </a:r>
            <a:endParaRPr lang="en-US" sz="1000" dirty="0"/>
          </a:p>
        </p:txBody>
      </p:sp>
      <p:sp>
        <p:nvSpPr>
          <p:cNvPr id="52" name="Text 31">
            <a:extLst>
              <a:ext uri="{FF2B5EF4-FFF2-40B4-BE49-F238E27FC236}">
                <a16:creationId xmlns:a16="http://schemas.microsoft.com/office/drawing/2014/main" id="{57CFADF6-6656-C046-B7DF-B547E7D923F1}"/>
              </a:ext>
            </a:extLst>
          </p:cNvPr>
          <p:cNvSpPr/>
          <p:nvPr/>
        </p:nvSpPr>
        <p:spPr>
          <a:xfrm>
            <a:off x="4012813" y="505534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💰  Economic</a:t>
            </a:r>
            <a:endParaRPr lang="en-US" sz="1200" dirty="0"/>
          </a:p>
        </p:txBody>
      </p:sp>
      <p:sp>
        <p:nvSpPr>
          <p:cNvPr id="53" name="Text 32">
            <a:extLst>
              <a:ext uri="{FF2B5EF4-FFF2-40B4-BE49-F238E27FC236}">
                <a16:creationId xmlns:a16="http://schemas.microsoft.com/office/drawing/2014/main" id="{18EA9BE7-E9F6-4AA7-AB06-6CCBB97BDD51}"/>
              </a:ext>
            </a:extLst>
          </p:cNvPr>
          <p:cNvSpPr/>
          <p:nvPr/>
        </p:nvSpPr>
        <p:spPr>
          <a:xfrm>
            <a:off x="4012813" y="5347951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</a:rPr>
              <a:t>[Cost savings, employment, productivity boost]</a:t>
            </a:r>
            <a:endParaRPr lang="en-US" sz="1000" dirty="0"/>
          </a:p>
        </p:txBody>
      </p:sp>
      <p:sp>
        <p:nvSpPr>
          <p:cNvPr id="54" name="Text 34">
            <a:extLst>
              <a:ext uri="{FF2B5EF4-FFF2-40B4-BE49-F238E27FC236}">
                <a16:creationId xmlns:a16="http://schemas.microsoft.com/office/drawing/2014/main" id="{D11C2AC6-3D91-0F0D-450B-FEBA542383B3}"/>
              </a:ext>
            </a:extLst>
          </p:cNvPr>
          <p:cNvSpPr/>
          <p:nvPr/>
        </p:nvSpPr>
        <p:spPr>
          <a:xfrm>
            <a:off x="6601097" y="50429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🌿  Environmental</a:t>
            </a:r>
            <a:endParaRPr lang="en-US" sz="1200" dirty="0"/>
          </a:p>
        </p:txBody>
      </p:sp>
      <p:sp>
        <p:nvSpPr>
          <p:cNvPr id="55" name="Text 35">
            <a:extLst>
              <a:ext uri="{FF2B5EF4-FFF2-40B4-BE49-F238E27FC236}">
                <a16:creationId xmlns:a16="http://schemas.microsoft.com/office/drawing/2014/main" id="{D0535DD7-4896-8F2D-12FE-0FD5DA3704DD}"/>
              </a:ext>
            </a:extLst>
          </p:cNvPr>
          <p:cNvSpPr/>
          <p:nvPr/>
        </p:nvSpPr>
        <p:spPr>
          <a:xfrm>
            <a:off x="6601097" y="53355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</a:rPr>
              <a:t>[Reduces carbon footprint, promotes sustainability]</a:t>
            </a:r>
            <a:endParaRPr lang="en-US" sz="1000" dirty="0"/>
          </a:p>
        </p:txBody>
      </p:sp>
      <p:sp>
        <p:nvSpPr>
          <p:cNvPr id="56" name="Text 37">
            <a:extLst>
              <a:ext uri="{FF2B5EF4-FFF2-40B4-BE49-F238E27FC236}">
                <a16:creationId xmlns:a16="http://schemas.microsoft.com/office/drawing/2014/main" id="{374BCBED-C0F4-2EB4-F731-23969C7AE770}"/>
              </a:ext>
            </a:extLst>
          </p:cNvPr>
          <p:cNvSpPr/>
          <p:nvPr/>
        </p:nvSpPr>
        <p:spPr>
          <a:xfrm>
            <a:off x="9827604" y="503088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🏛️  Governance</a:t>
            </a:r>
            <a:endParaRPr lang="en-US" sz="1200" dirty="0"/>
          </a:p>
        </p:txBody>
      </p:sp>
      <p:sp>
        <p:nvSpPr>
          <p:cNvPr id="57" name="Text 38">
            <a:extLst>
              <a:ext uri="{FF2B5EF4-FFF2-40B4-BE49-F238E27FC236}">
                <a16:creationId xmlns:a16="http://schemas.microsoft.com/office/drawing/2014/main" id="{264BDEE7-B03D-E423-64C8-7F7C6100C0A6}"/>
              </a:ext>
            </a:extLst>
          </p:cNvPr>
          <p:cNvSpPr/>
          <p:nvPr/>
        </p:nvSpPr>
        <p:spPr>
          <a:xfrm>
            <a:off x="9645090" y="537452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080"/>
                </a:solidFill>
              </a:rPr>
              <a:t>[Transparency, accountability, digital India push]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1350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86FB44-7F4C-4079-EA54-57F5050E45B0}"/>
              </a:ext>
            </a:extLst>
          </p:cNvPr>
          <p:cNvSpPr/>
          <p:nvPr/>
        </p:nvSpPr>
        <p:spPr>
          <a:xfrm>
            <a:off x="201168" y="0"/>
            <a:ext cx="11789664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398330-BBD8-13F6-168D-FA00B52243A4}"/>
              </a:ext>
            </a:extLst>
          </p:cNvPr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D4F56A7-66F4-765E-535C-974E8428EFB8}"/>
              </a:ext>
            </a:extLst>
          </p:cNvPr>
          <p:cNvSpPr/>
          <p:nvPr/>
        </p:nvSpPr>
        <p:spPr>
          <a:xfrm>
            <a:off x="11990832" y="0"/>
            <a:ext cx="201168" cy="91440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325DD77-1CB8-131E-C491-34FF6E8F0F9C}"/>
              </a:ext>
            </a:extLst>
          </p:cNvPr>
          <p:cNvSpPr/>
          <p:nvPr/>
        </p:nvSpPr>
        <p:spPr>
          <a:xfrm>
            <a:off x="2028226" y="1097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26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405837A-78F8-BB85-2F7E-45C6128F060A}"/>
              </a:ext>
            </a:extLst>
          </p:cNvPr>
          <p:cNvSpPr/>
          <p:nvPr/>
        </p:nvSpPr>
        <p:spPr>
          <a:xfrm>
            <a:off x="492034" y="89589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3A6B"/>
                </a:solidFill>
              </a:rPr>
              <a:t>Your Team Name</a:t>
            </a:r>
            <a:endParaRPr lang="en-US" sz="1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68D5A19-1D92-428D-421E-A5339213F0A4}"/>
              </a:ext>
            </a:extLst>
          </p:cNvPr>
          <p:cNvSpPr/>
          <p:nvPr/>
        </p:nvSpPr>
        <p:spPr>
          <a:xfrm>
            <a:off x="1" y="6487668"/>
            <a:ext cx="12192000" cy="3703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EBC65D8-58C2-4B05-CD04-BE4B25E1E525}"/>
              </a:ext>
            </a:extLst>
          </p:cNvPr>
          <p:cNvSpPr/>
          <p:nvPr/>
        </p:nvSpPr>
        <p:spPr>
          <a:xfrm>
            <a:off x="11762231" y="6505956"/>
            <a:ext cx="4572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A17CC5-E8E6-1A95-AB67-398A48827493}"/>
              </a:ext>
            </a:extLst>
          </p:cNvPr>
          <p:cNvSpPr/>
          <p:nvPr/>
        </p:nvSpPr>
        <p:spPr>
          <a:xfrm>
            <a:off x="201167" y="1347842"/>
            <a:ext cx="11789664" cy="454751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2" name="Picture 41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F38B93B2-2DE8-52B8-10FE-DE606B083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179" y="202257"/>
            <a:ext cx="2959104" cy="633521"/>
          </a:xfrm>
          <a:prstGeom prst="rect">
            <a:avLst/>
          </a:prstGeom>
        </p:spPr>
      </p:pic>
      <p:sp>
        <p:nvSpPr>
          <p:cNvPr id="25" name="Text 11">
            <a:extLst>
              <a:ext uri="{FF2B5EF4-FFF2-40B4-BE49-F238E27FC236}">
                <a16:creationId xmlns:a16="http://schemas.microsoft.com/office/drawing/2014/main" id="{8DCBB7C9-3E44-5F5F-B4AF-BBAF8EC818A7}"/>
              </a:ext>
            </a:extLst>
          </p:cNvPr>
          <p:cNvSpPr/>
          <p:nvPr/>
        </p:nvSpPr>
        <p:spPr>
          <a:xfrm>
            <a:off x="428614" y="133731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📚  List all references, research papers, datasets, and links that support your idea below.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9" name="Picture 5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D259833-BEB6-B9EE-7810-0ADA36644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" y="6566589"/>
            <a:ext cx="1611086" cy="249066"/>
          </a:xfrm>
          <a:prstGeom prst="rect">
            <a:avLst/>
          </a:prstGeom>
        </p:spPr>
      </p:pic>
      <p:sp>
        <p:nvSpPr>
          <p:cNvPr id="61" name="Text 3">
            <a:extLst>
              <a:ext uri="{FF2B5EF4-FFF2-40B4-BE49-F238E27FC236}">
                <a16:creationId xmlns:a16="http://schemas.microsoft.com/office/drawing/2014/main" id="{0B2E74BB-52EB-1CB5-3192-DB41DB0EC53D}"/>
              </a:ext>
            </a:extLst>
          </p:cNvPr>
          <p:cNvSpPr/>
          <p:nvPr/>
        </p:nvSpPr>
        <p:spPr>
          <a:xfrm>
            <a:off x="347472" y="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0FE082-0EDF-41F2-808D-FA24FD10EB5A}"/>
              </a:ext>
            </a:extLst>
          </p:cNvPr>
          <p:cNvSpPr/>
          <p:nvPr/>
        </p:nvSpPr>
        <p:spPr>
          <a:xfrm>
            <a:off x="201167" y="2090601"/>
            <a:ext cx="11789664" cy="454751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5237FC63-C055-1A10-8912-7B5FCF3D405E}"/>
              </a:ext>
            </a:extLst>
          </p:cNvPr>
          <p:cNvSpPr/>
          <p:nvPr/>
        </p:nvSpPr>
        <p:spPr>
          <a:xfrm>
            <a:off x="492034" y="21259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S.No</a:t>
            </a:r>
            <a:endParaRPr lang="en-US" sz="1200" dirty="0"/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EA498092-A9D0-3564-7CCA-B6146DF424EA}"/>
              </a:ext>
            </a:extLst>
          </p:cNvPr>
          <p:cNvSpPr/>
          <p:nvPr/>
        </p:nvSpPr>
        <p:spPr>
          <a:xfrm>
            <a:off x="1719072" y="2125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</a:t>
            </a:r>
            <a:endParaRPr lang="en-US" sz="12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160BA660-D607-D5E5-CCC1-F28D1A2E7B0F}"/>
              </a:ext>
            </a:extLst>
          </p:cNvPr>
          <p:cNvSpPr/>
          <p:nvPr/>
        </p:nvSpPr>
        <p:spPr>
          <a:xfrm>
            <a:off x="6056376" y="2126487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Details / Link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5033B8-F086-CA67-110D-B1F3FA356F7C}"/>
              </a:ext>
            </a:extLst>
          </p:cNvPr>
          <p:cNvSpPr/>
          <p:nvPr/>
        </p:nvSpPr>
        <p:spPr>
          <a:xfrm>
            <a:off x="347472" y="2614981"/>
            <a:ext cx="11643359" cy="42672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rgbClr val="1A3A6B"/>
                </a:solidFill>
              </a:rPr>
              <a:t>       Research Paper				</a:t>
            </a:r>
            <a:r>
              <a:rPr lang="en-US" sz="1600" i="1" dirty="0">
                <a:solidFill>
                  <a:srgbClr val="607080"/>
                </a:solidFill>
              </a:rPr>
              <a:t>[Author(s). Title. Journal/Conference. Year. DOI / URL]</a:t>
            </a:r>
            <a:endParaRPr lang="en-US" sz="1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B8FA9B-8D5E-9D66-6F97-45148E8F8AC2}"/>
              </a:ext>
            </a:extLst>
          </p:cNvPr>
          <p:cNvSpPr/>
          <p:nvPr/>
        </p:nvSpPr>
        <p:spPr>
          <a:xfrm>
            <a:off x="347473" y="3138946"/>
            <a:ext cx="11643358" cy="426720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</a:t>
            </a:r>
            <a:r>
              <a:rPr lang="en-US" sz="1800" b="1" dirty="0">
                <a:solidFill>
                  <a:srgbClr val="1A3A6B"/>
                </a:solidFill>
              </a:rPr>
              <a:t>Government Report</a:t>
            </a:r>
            <a:r>
              <a:rPr lang="en-IN" dirty="0">
                <a:solidFill>
                  <a:sysClr val="windowText" lastClr="000000"/>
                </a:solidFill>
              </a:rPr>
              <a:t>				</a:t>
            </a:r>
            <a:r>
              <a:rPr lang="en-US" sz="1600" i="1" dirty="0">
                <a:solidFill>
                  <a:srgbClr val="607080"/>
                </a:solidFill>
              </a:rPr>
              <a:t>[Ministry/Dept. Report Title. Year. Link]</a:t>
            </a:r>
            <a:endParaRPr lang="en-US" sz="18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DE99FB-732B-E41F-F4DA-3D21009CC17A}"/>
              </a:ext>
            </a:extLst>
          </p:cNvPr>
          <p:cNvSpPr/>
          <p:nvPr/>
        </p:nvSpPr>
        <p:spPr>
          <a:xfrm>
            <a:off x="347472" y="3688638"/>
            <a:ext cx="11643356" cy="42672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</a:t>
            </a:r>
            <a:r>
              <a:rPr lang="en-US" sz="1800" b="1" dirty="0">
                <a:solidFill>
                  <a:srgbClr val="1A3A6B"/>
                </a:solidFill>
              </a:rPr>
              <a:t>Open Dataset</a:t>
            </a:r>
            <a:r>
              <a:rPr lang="en-IN" dirty="0">
                <a:solidFill>
                  <a:sysClr val="windowText" lastClr="000000"/>
                </a:solidFill>
              </a:rPr>
              <a:t>					</a:t>
            </a:r>
            <a:r>
              <a:rPr lang="en-US" sz="1600" i="1" dirty="0">
                <a:solidFill>
                  <a:srgbClr val="607080"/>
                </a:solidFill>
              </a:rPr>
              <a:t>[Dataset Name. Platform (Kaggle / data.gov.in). Link]</a:t>
            </a:r>
            <a:endParaRPr lang="en-US" sz="18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AD6037-8B8E-6558-7567-43B7C8C62CE9}"/>
              </a:ext>
            </a:extLst>
          </p:cNvPr>
          <p:cNvSpPr/>
          <p:nvPr/>
        </p:nvSpPr>
        <p:spPr>
          <a:xfrm>
            <a:off x="347472" y="4212603"/>
            <a:ext cx="11643355" cy="426720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</a:t>
            </a:r>
            <a:r>
              <a:rPr lang="en-US" sz="1800" b="1" dirty="0">
                <a:solidFill>
                  <a:srgbClr val="1A3A6B"/>
                </a:solidFill>
              </a:rPr>
              <a:t>Related Project</a:t>
            </a:r>
            <a:r>
              <a:rPr lang="en-IN" dirty="0">
                <a:solidFill>
                  <a:sysClr val="windowText" lastClr="000000"/>
                </a:solidFill>
              </a:rPr>
              <a:t>				</a:t>
            </a:r>
            <a:r>
              <a:rPr lang="en-US" sz="1600" i="1" dirty="0">
                <a:solidFill>
                  <a:srgbClr val="607080"/>
                </a:solidFill>
              </a:rPr>
              <a:t>[Project / Product Name. Description. URL]</a:t>
            </a:r>
            <a:endParaRPr lang="en-US" sz="18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FEA015F-4C82-3EF4-FAE0-3AC08BAB8713}"/>
              </a:ext>
            </a:extLst>
          </p:cNvPr>
          <p:cNvSpPr/>
          <p:nvPr/>
        </p:nvSpPr>
        <p:spPr>
          <a:xfrm>
            <a:off x="347472" y="4723017"/>
            <a:ext cx="11643355" cy="42672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</a:t>
            </a:r>
            <a:r>
              <a:rPr lang="en-US" sz="1800" b="1" dirty="0">
                <a:solidFill>
                  <a:srgbClr val="1A3A6B"/>
                </a:solidFill>
              </a:rPr>
              <a:t>News / Article</a:t>
            </a:r>
            <a:r>
              <a:rPr lang="en-IN" dirty="0">
                <a:solidFill>
                  <a:sysClr val="windowText" lastClr="000000"/>
                </a:solidFill>
              </a:rPr>
              <a:t>				         	</a:t>
            </a:r>
            <a:r>
              <a:rPr lang="en-US" sz="1600" i="1" dirty="0">
                <a:solidFill>
                  <a:srgbClr val="607080"/>
                </a:solidFill>
              </a:rPr>
              <a:t>[Publication. Headline. Date. URL]</a:t>
            </a:r>
            <a:endParaRPr lang="en-US" sz="18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D3F24A1-5D7B-476C-58DA-B5F5C0C42B95}"/>
              </a:ext>
            </a:extLst>
          </p:cNvPr>
          <p:cNvSpPr/>
          <p:nvPr/>
        </p:nvSpPr>
        <p:spPr>
          <a:xfrm>
            <a:off x="347472" y="5246982"/>
            <a:ext cx="11643355" cy="426720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       </a:t>
            </a:r>
            <a:r>
              <a:rPr lang="en-US" sz="1800" b="1" dirty="0">
                <a:solidFill>
                  <a:srgbClr val="1A3A6B"/>
                </a:solidFill>
              </a:rPr>
              <a:t>Additional</a:t>
            </a:r>
            <a:r>
              <a:rPr lang="en-IN" dirty="0">
                <a:solidFill>
                  <a:sysClr val="windowText" lastClr="000000"/>
                </a:solidFill>
              </a:rPr>
              <a:t>					</a:t>
            </a:r>
            <a:r>
              <a:rPr lang="en-US" sz="1600" i="1" dirty="0">
                <a:solidFill>
                  <a:srgbClr val="607080"/>
                </a:solidFill>
              </a:rPr>
              <a:t>[Any other supporting reference]</a:t>
            </a:r>
            <a:endParaRPr lang="en-US" sz="18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8FB55C-032F-46DB-7933-6772E25239A1}"/>
              </a:ext>
            </a:extLst>
          </p:cNvPr>
          <p:cNvSpPr/>
          <p:nvPr/>
        </p:nvSpPr>
        <p:spPr>
          <a:xfrm>
            <a:off x="347473" y="2613402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21C00C-8720-B3F0-0A1D-F0849115519F}"/>
              </a:ext>
            </a:extLst>
          </p:cNvPr>
          <p:cNvSpPr/>
          <p:nvPr/>
        </p:nvSpPr>
        <p:spPr>
          <a:xfrm>
            <a:off x="347473" y="3145313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B15807-7476-7297-9855-8D0DA41F4EBE}"/>
              </a:ext>
            </a:extLst>
          </p:cNvPr>
          <p:cNvSpPr/>
          <p:nvPr/>
        </p:nvSpPr>
        <p:spPr>
          <a:xfrm>
            <a:off x="347473" y="3688638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BFCD944-D2AE-2044-E9FA-0E5CBF0DFE3E}"/>
              </a:ext>
            </a:extLst>
          </p:cNvPr>
          <p:cNvSpPr/>
          <p:nvPr/>
        </p:nvSpPr>
        <p:spPr>
          <a:xfrm>
            <a:off x="347473" y="4211863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221183-6F96-03B2-427B-1B1C9BBAD7C8}"/>
              </a:ext>
            </a:extLst>
          </p:cNvPr>
          <p:cNvSpPr/>
          <p:nvPr/>
        </p:nvSpPr>
        <p:spPr>
          <a:xfrm>
            <a:off x="347473" y="4720714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CB9A919-9648-795B-28E8-1DB445EAC858}"/>
              </a:ext>
            </a:extLst>
          </p:cNvPr>
          <p:cNvSpPr/>
          <p:nvPr/>
        </p:nvSpPr>
        <p:spPr>
          <a:xfrm>
            <a:off x="347473" y="5246982"/>
            <a:ext cx="426720" cy="426720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ysClr val="windowText" lastClr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79937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86FB44-7F4C-4079-EA54-57F5050E45B0}"/>
              </a:ext>
            </a:extLst>
          </p:cNvPr>
          <p:cNvSpPr/>
          <p:nvPr/>
        </p:nvSpPr>
        <p:spPr>
          <a:xfrm>
            <a:off x="201168" y="0"/>
            <a:ext cx="11789664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398330-BBD8-13F6-168D-FA00B52243A4}"/>
              </a:ext>
            </a:extLst>
          </p:cNvPr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D4F56A7-66F4-765E-535C-974E8428EFB8}"/>
              </a:ext>
            </a:extLst>
          </p:cNvPr>
          <p:cNvSpPr/>
          <p:nvPr/>
        </p:nvSpPr>
        <p:spPr>
          <a:xfrm>
            <a:off x="11990832" y="0"/>
            <a:ext cx="201168" cy="91440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325DD77-1CB8-131E-C491-34FF6E8F0F9C}"/>
              </a:ext>
            </a:extLst>
          </p:cNvPr>
          <p:cNvSpPr/>
          <p:nvPr/>
        </p:nvSpPr>
        <p:spPr>
          <a:xfrm>
            <a:off x="2028226" y="1097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26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868D5A19-1D92-428D-421E-A5339213F0A4}"/>
              </a:ext>
            </a:extLst>
          </p:cNvPr>
          <p:cNvSpPr/>
          <p:nvPr/>
        </p:nvSpPr>
        <p:spPr>
          <a:xfrm>
            <a:off x="1" y="6487668"/>
            <a:ext cx="12192000" cy="3703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4EBC65D8-58C2-4B05-CD04-BE4B25E1E525}"/>
              </a:ext>
            </a:extLst>
          </p:cNvPr>
          <p:cNvSpPr/>
          <p:nvPr/>
        </p:nvSpPr>
        <p:spPr>
          <a:xfrm>
            <a:off x="11762231" y="6505956"/>
            <a:ext cx="4572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A17CC5-E8E6-1A95-AB67-398A48827493}"/>
              </a:ext>
            </a:extLst>
          </p:cNvPr>
          <p:cNvSpPr/>
          <p:nvPr/>
        </p:nvSpPr>
        <p:spPr>
          <a:xfrm>
            <a:off x="201167" y="1347842"/>
            <a:ext cx="11789664" cy="454751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2" name="Picture 41" descr="A white logo on a black background&#10;&#10;AI-generated content may be incorrect.">
            <a:extLst>
              <a:ext uri="{FF2B5EF4-FFF2-40B4-BE49-F238E27FC236}">
                <a16:creationId xmlns:a16="http://schemas.microsoft.com/office/drawing/2014/main" id="{F38B93B2-2DE8-52B8-10FE-DE606B083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179" y="202257"/>
            <a:ext cx="2959104" cy="633521"/>
          </a:xfrm>
          <a:prstGeom prst="rect">
            <a:avLst/>
          </a:prstGeom>
        </p:spPr>
      </p:pic>
      <p:sp>
        <p:nvSpPr>
          <p:cNvPr id="25" name="Text 11">
            <a:extLst>
              <a:ext uri="{FF2B5EF4-FFF2-40B4-BE49-F238E27FC236}">
                <a16:creationId xmlns:a16="http://schemas.microsoft.com/office/drawing/2014/main" id="{8DCBB7C9-3E44-5F5F-B4AF-BBAF8EC818A7}"/>
              </a:ext>
            </a:extLst>
          </p:cNvPr>
          <p:cNvSpPr/>
          <p:nvPr/>
        </p:nvSpPr>
        <p:spPr>
          <a:xfrm>
            <a:off x="428614" y="133731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📚  List all references, research papers, datasets, and links that support your idea below.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9" name="Picture 5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D259833-BEB6-B9EE-7810-0ADA366446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" y="6566589"/>
            <a:ext cx="1611086" cy="249066"/>
          </a:xfrm>
          <a:prstGeom prst="rect">
            <a:avLst/>
          </a:prstGeom>
        </p:spPr>
      </p:pic>
      <p:sp>
        <p:nvSpPr>
          <p:cNvPr id="61" name="Text 3">
            <a:extLst>
              <a:ext uri="{FF2B5EF4-FFF2-40B4-BE49-F238E27FC236}">
                <a16:creationId xmlns:a16="http://schemas.microsoft.com/office/drawing/2014/main" id="{0B2E74BB-52EB-1CB5-3192-DB41DB0EC53D}"/>
              </a:ext>
            </a:extLst>
          </p:cNvPr>
          <p:cNvSpPr/>
          <p:nvPr/>
        </p:nvSpPr>
        <p:spPr>
          <a:xfrm>
            <a:off x="347472" y="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⚠️  IMPORTANT INSTRUCTIONS</a:t>
            </a:r>
            <a:endParaRPr lang="en-US" sz="28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0FE082-0EDF-41F2-808D-FA24FD10EB5A}"/>
              </a:ext>
            </a:extLst>
          </p:cNvPr>
          <p:cNvSpPr/>
          <p:nvPr/>
        </p:nvSpPr>
        <p:spPr>
          <a:xfrm>
            <a:off x="201167" y="2090601"/>
            <a:ext cx="11789664" cy="454751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5237FC63-C055-1A10-8912-7B5FCF3D405E}"/>
              </a:ext>
            </a:extLst>
          </p:cNvPr>
          <p:cNvSpPr/>
          <p:nvPr/>
        </p:nvSpPr>
        <p:spPr>
          <a:xfrm>
            <a:off x="492034" y="21259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S.No</a:t>
            </a:r>
            <a:endParaRPr lang="en-US" sz="1200" dirty="0"/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EA498092-A9D0-3564-7CCA-B6146DF424EA}"/>
              </a:ext>
            </a:extLst>
          </p:cNvPr>
          <p:cNvSpPr/>
          <p:nvPr/>
        </p:nvSpPr>
        <p:spPr>
          <a:xfrm>
            <a:off x="1719072" y="2125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</a:t>
            </a:r>
            <a:endParaRPr lang="en-US" sz="1200" dirty="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160BA660-D607-D5E5-CCC1-F28D1A2E7B0F}"/>
              </a:ext>
            </a:extLst>
          </p:cNvPr>
          <p:cNvSpPr/>
          <p:nvPr/>
        </p:nvSpPr>
        <p:spPr>
          <a:xfrm>
            <a:off x="6056376" y="2126487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Details / Link</a:t>
            </a:r>
            <a:endParaRPr lang="en-US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5033B8-F086-CA67-110D-B1F3FA356F7C}"/>
              </a:ext>
            </a:extLst>
          </p:cNvPr>
          <p:cNvSpPr/>
          <p:nvPr/>
        </p:nvSpPr>
        <p:spPr>
          <a:xfrm>
            <a:off x="347472" y="2614981"/>
            <a:ext cx="11643359" cy="42672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       Keep the maximum slides limit up to SIX (6), including the title slide.</a:t>
            </a:r>
            <a:endParaRPr lang="en-US" sz="1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B8FA9B-8D5E-9D66-6F97-45148E8F8AC2}"/>
              </a:ext>
            </a:extLst>
          </p:cNvPr>
          <p:cNvSpPr/>
          <p:nvPr/>
        </p:nvSpPr>
        <p:spPr>
          <a:xfrm>
            <a:off x="347473" y="3138946"/>
            <a:ext cx="11643358" cy="426720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</a:rPr>
              <a:t>       </a:t>
            </a:r>
            <a:r>
              <a:rPr lang="en-US" sz="1800" dirty="0">
                <a:solidFill>
                  <a:srgbClr val="1A1A2E"/>
                </a:solidFill>
              </a:rPr>
              <a:t>Avoid paragraphs — present your idea using points, diagrams, infographics, or pictures.</a:t>
            </a:r>
            <a:endParaRPr lang="en-US" sz="18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8DE99FB-732B-E41F-F4DA-3D21009CC17A}"/>
              </a:ext>
            </a:extLst>
          </p:cNvPr>
          <p:cNvSpPr/>
          <p:nvPr/>
        </p:nvSpPr>
        <p:spPr>
          <a:xfrm>
            <a:off x="347472" y="3688638"/>
            <a:ext cx="11643356" cy="42672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       Keep your explanation precise and easy to understand.</a:t>
            </a:r>
            <a:endParaRPr lang="en-US" sz="18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9AD6037-8B8E-6558-7567-43B7C8C62CE9}"/>
              </a:ext>
            </a:extLst>
          </p:cNvPr>
          <p:cNvSpPr/>
          <p:nvPr/>
        </p:nvSpPr>
        <p:spPr>
          <a:xfrm>
            <a:off x="347472" y="4212603"/>
            <a:ext cx="11643355" cy="426720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       Your idea must be unique and novel.</a:t>
            </a:r>
            <a:endParaRPr lang="en-US" sz="18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FEA015F-4C82-3EF4-FAE0-3AC08BAB8713}"/>
              </a:ext>
            </a:extLst>
          </p:cNvPr>
          <p:cNvSpPr/>
          <p:nvPr/>
        </p:nvSpPr>
        <p:spPr>
          <a:xfrm>
            <a:off x="347472" y="4723017"/>
            <a:ext cx="11643355" cy="42672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       Use only the provided SIH template — do NOT change the required section headings.</a:t>
            </a:r>
            <a:endParaRPr lang="en-US" sz="18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D3F24A1-5D7B-476C-58DA-B5F5C0C42B95}"/>
              </a:ext>
            </a:extLst>
          </p:cNvPr>
          <p:cNvSpPr/>
          <p:nvPr/>
        </p:nvSpPr>
        <p:spPr>
          <a:xfrm>
            <a:off x="347472" y="5246982"/>
            <a:ext cx="11643355" cy="426720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</a:rPr>
              <a:t>       Save the file as PDF and upload on the portal. No PPT, DOCX, or other formats supported.</a:t>
            </a:r>
            <a:endParaRPr lang="en-US" sz="18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8FB55C-032F-46DB-7933-6772E25239A1}"/>
              </a:ext>
            </a:extLst>
          </p:cNvPr>
          <p:cNvSpPr/>
          <p:nvPr/>
        </p:nvSpPr>
        <p:spPr>
          <a:xfrm>
            <a:off x="347473" y="2613402"/>
            <a:ext cx="426720" cy="42672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21C00C-8720-B3F0-0A1D-F0849115519F}"/>
              </a:ext>
            </a:extLst>
          </p:cNvPr>
          <p:cNvSpPr/>
          <p:nvPr/>
        </p:nvSpPr>
        <p:spPr>
          <a:xfrm>
            <a:off x="347473" y="3145313"/>
            <a:ext cx="426720" cy="42672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1B15807-7476-7297-9855-8D0DA41F4EBE}"/>
              </a:ext>
            </a:extLst>
          </p:cNvPr>
          <p:cNvSpPr/>
          <p:nvPr/>
        </p:nvSpPr>
        <p:spPr>
          <a:xfrm>
            <a:off x="347473" y="3688638"/>
            <a:ext cx="426720" cy="42672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BFCD944-D2AE-2044-E9FA-0E5CBF0DFE3E}"/>
              </a:ext>
            </a:extLst>
          </p:cNvPr>
          <p:cNvSpPr/>
          <p:nvPr/>
        </p:nvSpPr>
        <p:spPr>
          <a:xfrm>
            <a:off x="347473" y="4211863"/>
            <a:ext cx="426720" cy="42672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1221183-6F96-03B2-427B-1B1C9BBAD7C8}"/>
              </a:ext>
            </a:extLst>
          </p:cNvPr>
          <p:cNvSpPr/>
          <p:nvPr/>
        </p:nvSpPr>
        <p:spPr>
          <a:xfrm>
            <a:off x="347473" y="4720714"/>
            <a:ext cx="426720" cy="42672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IN" dirty="0">
              <a:solidFill>
                <a:sysClr val="windowText" lastClr="000000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CB9A919-9648-795B-28E8-1DB445EAC858}"/>
              </a:ext>
            </a:extLst>
          </p:cNvPr>
          <p:cNvSpPr/>
          <p:nvPr/>
        </p:nvSpPr>
        <p:spPr>
          <a:xfrm>
            <a:off x="347473" y="5246982"/>
            <a:ext cx="426720" cy="426720"/>
          </a:xfrm>
          <a:prstGeom prst="ellipse">
            <a:avLst/>
          </a:prstGeom>
          <a:solidFill>
            <a:srgbClr val="0A234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7EB0DF-0D75-3B66-03F5-22DD9A2FC790}"/>
              </a:ext>
            </a:extLst>
          </p:cNvPr>
          <p:cNvSpPr/>
          <p:nvPr/>
        </p:nvSpPr>
        <p:spPr>
          <a:xfrm>
            <a:off x="201167" y="1001486"/>
            <a:ext cx="11789660" cy="249111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7B4F00"/>
                </a:solidFill>
              </a:rPr>
              <a:t>📌  Please ensure the below pointers are met before submitting your Idea PPT.</a:t>
            </a:r>
            <a:endParaRPr lang="en-US" sz="16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7862D3-9AB4-85C8-BC4B-14C6A851B31D}"/>
              </a:ext>
            </a:extLst>
          </p:cNvPr>
          <p:cNvSpPr/>
          <p:nvPr/>
        </p:nvSpPr>
        <p:spPr>
          <a:xfrm>
            <a:off x="301756" y="6174332"/>
            <a:ext cx="11789660" cy="249111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</a:rPr>
              <a:t>🗑️  Note: You can delete this slide when uploading your idea on the Avishkar portal.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03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792</Words>
  <Application>Microsoft Office PowerPoint</Application>
  <PresentationFormat>Widescreen</PresentationFormat>
  <Paragraphs>140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Shravan G</dc:creator>
  <cp:lastModifiedBy>Shravan G</cp:lastModifiedBy>
  <cp:revision>1</cp:revision>
  <dcterms:created xsi:type="dcterms:W3CDTF">2026-04-01T07:22:08Z</dcterms:created>
  <dcterms:modified xsi:type="dcterms:W3CDTF">2026-04-01T08:09:33Z</dcterms:modified>
</cp:coreProperties>
</file>